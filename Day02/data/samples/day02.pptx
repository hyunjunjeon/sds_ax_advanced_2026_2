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304" r:id="rId24"/>
    <p:sldId id="305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Gothic A1"/>
        <a:ea typeface="Gothic A1"/>
        <a:cs typeface="Gothic A1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Gothic A1"/>
        <a:ea typeface="Gothic A1"/>
        <a:cs typeface="Gothic A1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Gothic A1"/>
        <a:ea typeface="Gothic A1"/>
        <a:cs typeface="Gothic A1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Gothic A1"/>
        <a:ea typeface="Gothic A1"/>
        <a:cs typeface="Gothic A1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Gothic A1"/>
        <a:ea typeface="Gothic A1"/>
        <a:cs typeface="Gothic A1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Gothic A1"/>
        <a:ea typeface="Gothic A1"/>
        <a:cs typeface="Gothic A1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Gothic A1"/>
        <a:ea typeface="Gothic A1"/>
        <a:cs typeface="Gothic A1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Gothic A1"/>
        <a:ea typeface="Gothic A1"/>
        <a:cs typeface="Gothic A1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Gothic A1"/>
        <a:ea typeface="Gothic A1"/>
        <a:cs typeface="Gothic A1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17"/>
    <p:restoredTop sz="94641"/>
  </p:normalViewPr>
  <p:slideViewPr>
    <p:cSldViewPr snapToGrid="0" snapToObjects="1">
      <p:cViewPr varScale="1">
        <p:scale>
          <a:sx n="188" d="100"/>
          <a:sy n="188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794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othic A1"/>
          <a:ea typeface="Gothic A1"/>
          <a:cs typeface="Gothic A1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Gothic A1"/>
        <a:buChar char="•"/>
        <a:defRPr sz="3200" kern="1200">
          <a:solidFill>
            <a:schemeClr val="tx1"/>
          </a:solidFill>
          <a:latin typeface="Gothic A1"/>
          <a:ea typeface="Gothic A1"/>
          <a:cs typeface="Gothic A1"/>
        </a:defRPr>
      </a:lvl1pPr>
      <a:lvl2pPr marL="742950" indent="-285750" algn="l" defTabSz="457200" rtl="0" eaLnBrk="1" latinLnBrk="0" hangingPunct="1">
        <a:spcBef>
          <a:spcPct val="20000"/>
        </a:spcBef>
        <a:buFont typeface="Gothic A1"/>
        <a:buChar char="–"/>
        <a:defRPr sz="2800" kern="1200">
          <a:solidFill>
            <a:schemeClr val="tx1"/>
          </a:solidFill>
          <a:latin typeface="Gothic A1"/>
          <a:ea typeface="Gothic A1"/>
          <a:cs typeface="Gothic A1"/>
        </a:defRPr>
      </a:lvl2pPr>
      <a:lvl3pPr marL="1143000" indent="-228600" algn="l" defTabSz="457200" rtl="0" eaLnBrk="1" latinLnBrk="0" hangingPunct="1">
        <a:spcBef>
          <a:spcPct val="20000"/>
        </a:spcBef>
        <a:buFont typeface="Gothic A1"/>
        <a:buChar char="•"/>
        <a:defRPr sz="2400" kern="1200">
          <a:solidFill>
            <a:schemeClr val="tx1"/>
          </a:solidFill>
          <a:latin typeface="Gothic A1"/>
          <a:ea typeface="Gothic A1"/>
          <a:cs typeface="Gothic A1"/>
        </a:defRPr>
      </a:lvl3pPr>
      <a:lvl4pPr marL="1600200" indent="-228600" algn="l" defTabSz="457200" rtl="0" eaLnBrk="1" latinLnBrk="0" hangingPunct="1">
        <a:spcBef>
          <a:spcPct val="20000"/>
        </a:spcBef>
        <a:buFont typeface="Gothic A1"/>
        <a:buChar char="–"/>
        <a:defRPr sz="2000" kern="1200">
          <a:solidFill>
            <a:schemeClr val="tx1"/>
          </a:solidFill>
          <a:latin typeface="Gothic A1"/>
          <a:ea typeface="Gothic A1"/>
          <a:cs typeface="Gothic A1"/>
        </a:defRPr>
      </a:lvl4pPr>
      <a:lvl5pPr marL="2057400" indent="-228600" algn="l" defTabSz="457200" rtl="0" eaLnBrk="1" latinLnBrk="0" hangingPunct="1">
        <a:spcBef>
          <a:spcPct val="20000"/>
        </a:spcBef>
        <a:buFont typeface="Gothic A1"/>
        <a:buChar char="»"/>
        <a:defRPr sz="2000" kern="1200">
          <a:solidFill>
            <a:schemeClr val="tx1"/>
          </a:solidFill>
          <a:latin typeface="Gothic A1"/>
          <a:ea typeface="Gothic A1"/>
          <a:cs typeface="Gothic A1"/>
        </a:defRPr>
      </a:lvl5pPr>
      <a:lvl6pPr marL="2514600" indent="-228600" algn="l" defTabSz="457200" rtl="0" eaLnBrk="1" latinLnBrk="0" hangingPunct="1">
        <a:spcBef>
          <a:spcPct val="20000"/>
        </a:spcBef>
        <a:buFont typeface="Gothic A1"/>
        <a:buChar char="•"/>
        <a:defRPr sz="2000" kern="1200">
          <a:solidFill>
            <a:schemeClr val="tx1"/>
          </a:solidFill>
          <a:latin typeface="Gothic A1"/>
          <a:ea typeface="Gothic A1"/>
          <a:cs typeface="Gothic A1"/>
        </a:defRPr>
      </a:lvl6pPr>
      <a:lvl7pPr marL="2971800" indent="-228600" algn="l" defTabSz="457200" rtl="0" eaLnBrk="1" latinLnBrk="0" hangingPunct="1">
        <a:spcBef>
          <a:spcPct val="20000"/>
        </a:spcBef>
        <a:buFont typeface="Gothic A1"/>
        <a:buChar char="•"/>
        <a:defRPr sz="2000" kern="1200">
          <a:solidFill>
            <a:schemeClr val="tx1"/>
          </a:solidFill>
          <a:latin typeface="Gothic A1"/>
          <a:ea typeface="Gothic A1"/>
          <a:cs typeface="Gothic A1"/>
        </a:defRPr>
      </a:lvl7pPr>
      <a:lvl8pPr marL="3429000" indent="-228600" algn="l" defTabSz="457200" rtl="0" eaLnBrk="1" latinLnBrk="0" hangingPunct="1">
        <a:spcBef>
          <a:spcPct val="20000"/>
        </a:spcBef>
        <a:buFont typeface="Gothic A1"/>
        <a:buChar char="•"/>
        <a:defRPr sz="2000" kern="1200">
          <a:solidFill>
            <a:schemeClr val="tx1"/>
          </a:solidFill>
          <a:latin typeface="Gothic A1"/>
          <a:ea typeface="Gothic A1"/>
          <a:cs typeface="Gothic A1"/>
        </a:defRPr>
      </a:lvl8pPr>
      <a:lvl9pPr marL="3886200" indent="-228600" algn="l" defTabSz="457200" rtl="0" eaLnBrk="1" latinLnBrk="0" hangingPunct="1">
        <a:spcBef>
          <a:spcPct val="20000"/>
        </a:spcBef>
        <a:buFont typeface="Gothic A1"/>
        <a:buChar char="•"/>
        <a:defRPr sz="2000" kern="1200">
          <a:solidFill>
            <a:schemeClr val="tx1"/>
          </a:solidFill>
          <a:latin typeface="Gothic A1"/>
          <a:ea typeface="Gothic A1"/>
          <a:cs typeface="Gothic A1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Gothic A1"/>
          <a:ea typeface="Gothic A1"/>
          <a:cs typeface="Gothic A1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Gothic A1"/>
          <a:ea typeface="Gothic A1"/>
          <a:cs typeface="Gothic A1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Gothic A1"/>
          <a:ea typeface="Gothic A1"/>
          <a:cs typeface="Gothic A1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Gothic A1"/>
          <a:ea typeface="Gothic A1"/>
          <a:cs typeface="Gothic A1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Gothic A1"/>
          <a:ea typeface="Gothic A1"/>
          <a:cs typeface="Gothic A1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Gothic A1"/>
          <a:ea typeface="Gothic A1"/>
          <a:cs typeface="Gothic A1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Gothic A1"/>
          <a:ea typeface="Gothic A1"/>
          <a:cs typeface="Gothic A1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Gothic A1"/>
          <a:ea typeface="Gothic A1"/>
          <a:cs typeface="Gothic A1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Gothic A1"/>
          <a:ea typeface="Gothic A1"/>
          <a:cs typeface="Gothic A1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01_PRESERVED" descr="page_01_as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03_PRESERVED" descr="page_03_as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372160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384048" y="957376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sp>
        <p:nvSpPr>
          <p:cNvPr id="4" name="Slide title"/>
          <p:cNvSpPr txBox="1"/>
          <p:nvPr/>
        </p:nvSpPr>
        <p:spPr>
          <a:xfrm>
            <a:off x="640080" y="508002"/>
            <a:ext cx="7900416" cy="33832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40" b="1" dirty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OT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8613648" y="4837176"/>
            <a:ext cx="301752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4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4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484632" y="1225296"/>
            <a:ext cx="1865376" cy="42062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Production RAG</a:t>
            </a:r>
          </a:p>
        </p:txBody>
      </p:sp>
      <p:sp>
        <p:nvSpPr>
          <p:cNvPr id="7" name="Panel"/>
          <p:cNvSpPr/>
          <p:nvPr/>
        </p:nvSpPr>
        <p:spPr>
          <a:xfrm>
            <a:off x="484632" y="1773936"/>
            <a:ext cx="1865376" cy="25237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B83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anel"/>
          <p:cNvSpPr/>
          <p:nvPr/>
        </p:nvSpPr>
        <p:spPr>
          <a:xfrm>
            <a:off x="1572768" y="1645920"/>
            <a:ext cx="640080" cy="228600"/>
          </a:xfrm>
          <a:prstGeom prst="rect">
            <a:avLst/>
          </a:prstGeom>
          <a:solidFill>
            <a:srgbClr val="00B8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 8"/>
          <p:cNvSpPr txBox="1"/>
          <p:nvPr/>
        </p:nvSpPr>
        <p:spPr>
          <a:xfrm>
            <a:off x="1618488" y="1668780"/>
            <a:ext cx="54864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19" b="1">
                <a:solidFill>
                  <a:srgbClr val="FFFFFF"/>
                </a:solidFill>
                <a:latin typeface="Gothic A1"/>
                <a:ea typeface="Gothic A1"/>
                <a:cs typeface="Gothic A1"/>
              </a:rPr>
              <a:t>TODAY</a:t>
            </a:r>
          </a:p>
        </p:txBody>
      </p:sp>
      <p:sp>
        <p:nvSpPr>
          <p:cNvPr id="10" name="Panel"/>
          <p:cNvSpPr/>
          <p:nvPr/>
        </p:nvSpPr>
        <p:spPr>
          <a:xfrm>
            <a:off x="585216" y="1984248"/>
            <a:ext cx="1664208" cy="393192"/>
          </a:xfrm>
          <a:prstGeom prst="rect">
            <a:avLst/>
          </a:prstGeom>
          <a:solidFill>
            <a:srgbClr val="EFF8F0"/>
          </a:solidFill>
          <a:ln w="8890">
            <a:solidFill>
              <a:srgbClr val="0084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 10"/>
          <p:cNvSpPr txBox="1"/>
          <p:nvPr/>
        </p:nvSpPr>
        <p:spPr>
          <a:xfrm>
            <a:off x="630936" y="2025395"/>
            <a:ext cx="1572768" cy="31089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Era of AI Models</a:t>
            </a:r>
          </a:p>
        </p:txBody>
      </p:sp>
      <p:sp>
        <p:nvSpPr>
          <p:cNvPr id="12" name="Panel"/>
          <p:cNvSpPr/>
          <p:nvPr/>
        </p:nvSpPr>
        <p:spPr>
          <a:xfrm>
            <a:off x="585216" y="2523744"/>
            <a:ext cx="1664208" cy="393192"/>
          </a:xfrm>
          <a:prstGeom prst="rect">
            <a:avLst/>
          </a:prstGeom>
          <a:solidFill>
            <a:srgbClr val="EFF8F0"/>
          </a:solidFill>
          <a:ln w="8890">
            <a:solidFill>
              <a:srgbClr val="0084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 12"/>
          <p:cNvSpPr txBox="1"/>
          <p:nvPr/>
        </p:nvSpPr>
        <p:spPr>
          <a:xfrm>
            <a:off x="630936" y="2564891"/>
            <a:ext cx="1572768" cy="31089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RAG</a:t>
            </a:r>
          </a:p>
        </p:txBody>
      </p:sp>
      <p:sp>
        <p:nvSpPr>
          <p:cNvPr id="14" name="Panel"/>
          <p:cNvSpPr/>
          <p:nvPr/>
        </p:nvSpPr>
        <p:spPr>
          <a:xfrm>
            <a:off x="585216" y="3063239"/>
            <a:ext cx="1664208" cy="393192"/>
          </a:xfrm>
          <a:prstGeom prst="rect">
            <a:avLst/>
          </a:prstGeom>
          <a:solidFill>
            <a:srgbClr val="EFF8F0"/>
          </a:solidFill>
          <a:ln w="8890">
            <a:solidFill>
              <a:srgbClr val="0084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 14"/>
          <p:cNvSpPr txBox="1"/>
          <p:nvPr/>
        </p:nvSpPr>
        <p:spPr>
          <a:xfrm>
            <a:off x="630936" y="3104387"/>
            <a:ext cx="1572768" cy="31089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Search</a:t>
            </a:r>
          </a:p>
        </p:txBody>
      </p:sp>
      <p:sp>
        <p:nvSpPr>
          <p:cNvPr id="16" name="Panel"/>
          <p:cNvSpPr/>
          <p:nvPr/>
        </p:nvSpPr>
        <p:spPr>
          <a:xfrm>
            <a:off x="585216" y="3602736"/>
            <a:ext cx="1664208" cy="393192"/>
          </a:xfrm>
          <a:prstGeom prst="rect">
            <a:avLst/>
          </a:prstGeom>
          <a:solidFill>
            <a:srgbClr val="EFF8F0"/>
          </a:solidFill>
          <a:ln w="8890">
            <a:solidFill>
              <a:srgbClr val="0084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 16"/>
          <p:cNvSpPr txBox="1"/>
          <p:nvPr/>
        </p:nvSpPr>
        <p:spPr>
          <a:xfrm>
            <a:off x="630936" y="3643884"/>
            <a:ext cx="1572768" cy="31089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Answer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2587752" y="1225296"/>
            <a:ext cx="1865376" cy="42062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8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Multi Agent</a:t>
            </a:r>
          </a:p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8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Architecture</a:t>
            </a:r>
          </a:p>
        </p:txBody>
      </p:sp>
      <p:sp>
        <p:nvSpPr>
          <p:cNvPr id="19" name="Panel"/>
          <p:cNvSpPr/>
          <p:nvPr/>
        </p:nvSpPr>
        <p:spPr>
          <a:xfrm>
            <a:off x="2587752" y="1773936"/>
            <a:ext cx="1865376" cy="25237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C9C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anel"/>
          <p:cNvSpPr/>
          <p:nvPr/>
        </p:nvSpPr>
        <p:spPr>
          <a:xfrm>
            <a:off x="2688336" y="1984248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20"/>
          <p:cNvSpPr txBox="1"/>
          <p:nvPr/>
        </p:nvSpPr>
        <p:spPr>
          <a:xfrm>
            <a:off x="2734056" y="2025395"/>
            <a:ext cx="1572768" cy="31089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Workflow vs Agent</a:t>
            </a:r>
          </a:p>
        </p:txBody>
      </p:sp>
      <p:sp>
        <p:nvSpPr>
          <p:cNvPr id="22" name="Panel"/>
          <p:cNvSpPr/>
          <p:nvPr/>
        </p:nvSpPr>
        <p:spPr>
          <a:xfrm>
            <a:off x="2688336" y="2523744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 22"/>
          <p:cNvSpPr txBox="1"/>
          <p:nvPr/>
        </p:nvSpPr>
        <p:spPr>
          <a:xfrm>
            <a:off x="2734056" y="2564891"/>
            <a:ext cx="1572768" cy="31089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Agent Architecture</a:t>
            </a:r>
          </a:p>
        </p:txBody>
      </p:sp>
      <p:sp>
        <p:nvSpPr>
          <p:cNvPr id="24" name="Panel"/>
          <p:cNvSpPr/>
          <p:nvPr/>
        </p:nvSpPr>
        <p:spPr>
          <a:xfrm>
            <a:off x="2688336" y="3063239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 24"/>
          <p:cNvSpPr txBox="1"/>
          <p:nvPr/>
        </p:nvSpPr>
        <p:spPr>
          <a:xfrm>
            <a:off x="2734056" y="3104387"/>
            <a:ext cx="1572768" cy="31089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Single vs Multi</a:t>
            </a:r>
          </a:p>
        </p:txBody>
      </p:sp>
      <p:sp>
        <p:nvSpPr>
          <p:cNvPr id="26" name="Panel"/>
          <p:cNvSpPr/>
          <p:nvPr/>
        </p:nvSpPr>
        <p:spPr>
          <a:xfrm>
            <a:off x="2688336" y="3602736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 26"/>
          <p:cNvSpPr txBox="1"/>
          <p:nvPr/>
        </p:nvSpPr>
        <p:spPr>
          <a:xfrm>
            <a:off x="2734056" y="3643884"/>
            <a:ext cx="1572768" cy="31089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Some Engineering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4690872" y="1225296"/>
            <a:ext cx="1865376" cy="42062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Advanced Agent</a:t>
            </a:r>
          </a:p>
        </p:txBody>
      </p:sp>
      <p:sp>
        <p:nvSpPr>
          <p:cNvPr id="29" name="Panel"/>
          <p:cNvSpPr/>
          <p:nvPr/>
        </p:nvSpPr>
        <p:spPr>
          <a:xfrm>
            <a:off x="4690872" y="1773936"/>
            <a:ext cx="1865376" cy="25237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C9C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Panel"/>
          <p:cNvSpPr/>
          <p:nvPr/>
        </p:nvSpPr>
        <p:spPr>
          <a:xfrm>
            <a:off x="4791456" y="1984248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 30"/>
          <p:cNvSpPr txBox="1"/>
          <p:nvPr/>
        </p:nvSpPr>
        <p:spPr>
          <a:xfrm>
            <a:off x="4837176" y="2025395"/>
            <a:ext cx="1572768" cy="31089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Agent Capability</a:t>
            </a:r>
          </a:p>
        </p:txBody>
      </p:sp>
      <p:sp>
        <p:nvSpPr>
          <p:cNvPr id="32" name="Panel"/>
          <p:cNvSpPr/>
          <p:nvPr/>
        </p:nvSpPr>
        <p:spPr>
          <a:xfrm>
            <a:off x="4791456" y="2523744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 32"/>
          <p:cNvSpPr txBox="1"/>
          <p:nvPr/>
        </p:nvSpPr>
        <p:spPr>
          <a:xfrm>
            <a:off x="4837176" y="2564891"/>
            <a:ext cx="1572768" cy="31089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Agent Skills</a:t>
            </a:r>
          </a:p>
        </p:txBody>
      </p:sp>
      <p:sp>
        <p:nvSpPr>
          <p:cNvPr id="34" name="Panel"/>
          <p:cNvSpPr/>
          <p:nvPr/>
        </p:nvSpPr>
        <p:spPr>
          <a:xfrm>
            <a:off x="4791456" y="3063239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34"/>
          <p:cNvSpPr txBox="1"/>
          <p:nvPr/>
        </p:nvSpPr>
        <p:spPr>
          <a:xfrm>
            <a:off x="4837176" y="3104387"/>
            <a:ext cx="1572768" cy="31089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Function Call</a:t>
            </a:r>
          </a:p>
        </p:txBody>
      </p:sp>
      <p:sp>
        <p:nvSpPr>
          <p:cNvPr id="36" name="Panel"/>
          <p:cNvSpPr/>
          <p:nvPr/>
        </p:nvSpPr>
        <p:spPr>
          <a:xfrm>
            <a:off x="4791456" y="3602736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 36"/>
          <p:cNvSpPr txBox="1"/>
          <p:nvPr/>
        </p:nvSpPr>
        <p:spPr>
          <a:xfrm>
            <a:off x="4837176" y="3643884"/>
            <a:ext cx="1572768" cy="31089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Tool &amp; MCP</a:t>
            </a:r>
          </a:p>
        </p:txBody>
      </p:sp>
      <p:sp>
        <p:nvSpPr>
          <p:cNvPr id="38" name="Text 37"/>
          <p:cNvSpPr txBox="1"/>
          <p:nvPr/>
        </p:nvSpPr>
        <p:spPr>
          <a:xfrm>
            <a:off x="6793992" y="1225296"/>
            <a:ext cx="1865376" cy="42062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Agent Ops</a:t>
            </a:r>
          </a:p>
        </p:txBody>
      </p:sp>
      <p:sp>
        <p:nvSpPr>
          <p:cNvPr id="39" name="Panel"/>
          <p:cNvSpPr/>
          <p:nvPr/>
        </p:nvSpPr>
        <p:spPr>
          <a:xfrm>
            <a:off x="6793992" y="1773936"/>
            <a:ext cx="1865376" cy="25237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C9C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Panel"/>
          <p:cNvSpPr/>
          <p:nvPr/>
        </p:nvSpPr>
        <p:spPr>
          <a:xfrm>
            <a:off x="6894576" y="1984248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40"/>
          <p:cNvSpPr txBox="1"/>
          <p:nvPr/>
        </p:nvSpPr>
        <p:spPr>
          <a:xfrm>
            <a:off x="6940296" y="2025395"/>
            <a:ext cx="1572768" cy="31089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Agent Observability</a:t>
            </a:r>
          </a:p>
        </p:txBody>
      </p:sp>
      <p:sp>
        <p:nvSpPr>
          <p:cNvPr id="42" name="Panel"/>
          <p:cNvSpPr/>
          <p:nvPr/>
        </p:nvSpPr>
        <p:spPr>
          <a:xfrm>
            <a:off x="6894576" y="2523744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 42"/>
          <p:cNvSpPr txBox="1"/>
          <p:nvPr/>
        </p:nvSpPr>
        <p:spPr>
          <a:xfrm>
            <a:off x="6940296" y="2564891"/>
            <a:ext cx="1572768" cy="31089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Agent Evaluation</a:t>
            </a:r>
          </a:p>
        </p:txBody>
      </p:sp>
      <p:sp>
        <p:nvSpPr>
          <p:cNvPr id="44" name="Panel"/>
          <p:cNvSpPr/>
          <p:nvPr/>
        </p:nvSpPr>
        <p:spPr>
          <a:xfrm>
            <a:off x="6894576" y="3063239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 44"/>
          <p:cNvSpPr txBox="1"/>
          <p:nvPr/>
        </p:nvSpPr>
        <p:spPr>
          <a:xfrm>
            <a:off x="6940296" y="3104387"/>
            <a:ext cx="1572768" cy="31089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Trajectory</a:t>
            </a:r>
          </a:p>
        </p:txBody>
      </p:sp>
      <p:sp>
        <p:nvSpPr>
          <p:cNvPr id="46" name="Panel"/>
          <p:cNvSpPr/>
          <p:nvPr/>
        </p:nvSpPr>
        <p:spPr>
          <a:xfrm>
            <a:off x="6894576" y="3602736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 46"/>
          <p:cNvSpPr txBox="1"/>
          <p:nvPr/>
        </p:nvSpPr>
        <p:spPr>
          <a:xfrm>
            <a:off x="6940296" y="3643884"/>
            <a:ext cx="1572768" cy="31089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Gold Dataset</a:t>
            </a:r>
          </a:p>
        </p:txBody>
      </p:sp>
      <p:sp>
        <p:nvSpPr>
          <p:cNvPr id="48" name="Panel"/>
          <p:cNvSpPr/>
          <p:nvPr/>
        </p:nvSpPr>
        <p:spPr>
          <a:xfrm>
            <a:off x="640080" y="4507992"/>
            <a:ext cx="32004" cy="329184"/>
          </a:xfrm>
          <a:prstGeom prst="rect">
            <a:avLst/>
          </a:prstGeom>
          <a:solidFill>
            <a:srgbClr val="00B8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 48"/>
          <p:cNvSpPr txBox="1"/>
          <p:nvPr/>
        </p:nvSpPr>
        <p:spPr>
          <a:xfrm>
            <a:off x="786384" y="4517136"/>
            <a:ext cx="7644383" cy="30175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6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오늘은 검색과 답변을 분리해서 보고, 다시 하나의 RAG로 연결합니다.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372160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384048" y="957376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sp>
        <p:nvSpPr>
          <p:cNvPr id="4" name="Slide title"/>
          <p:cNvSpPr txBox="1"/>
          <p:nvPr/>
        </p:nvSpPr>
        <p:spPr>
          <a:xfrm>
            <a:off x="640080" y="548640"/>
            <a:ext cx="7900416" cy="33832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OT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8613648" y="4837176"/>
            <a:ext cx="301752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4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5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484632" y="1225296"/>
            <a:ext cx="1865376" cy="42062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Agent Harness</a:t>
            </a:r>
          </a:p>
        </p:txBody>
      </p:sp>
      <p:sp>
        <p:nvSpPr>
          <p:cNvPr id="7" name="Panel"/>
          <p:cNvSpPr/>
          <p:nvPr/>
        </p:nvSpPr>
        <p:spPr>
          <a:xfrm>
            <a:off x="484632" y="1773936"/>
            <a:ext cx="1865376" cy="25237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BFC9C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anel"/>
          <p:cNvSpPr/>
          <p:nvPr/>
        </p:nvSpPr>
        <p:spPr>
          <a:xfrm>
            <a:off x="585216" y="1984248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 8"/>
          <p:cNvSpPr txBox="1"/>
          <p:nvPr/>
        </p:nvSpPr>
        <p:spPr>
          <a:xfrm>
            <a:off x="630936" y="2020824"/>
            <a:ext cx="1572768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Control Plane</a:t>
            </a:r>
          </a:p>
        </p:txBody>
      </p:sp>
      <p:sp>
        <p:nvSpPr>
          <p:cNvPr id="10" name="Panel"/>
          <p:cNvSpPr/>
          <p:nvPr/>
        </p:nvSpPr>
        <p:spPr>
          <a:xfrm>
            <a:off x="585216" y="2523744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 10"/>
          <p:cNvSpPr txBox="1"/>
          <p:nvPr/>
        </p:nvSpPr>
        <p:spPr>
          <a:xfrm>
            <a:off x="630936" y="2560320"/>
            <a:ext cx="1572768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Deterministic</a:t>
            </a:r>
          </a:p>
        </p:txBody>
      </p:sp>
      <p:sp>
        <p:nvSpPr>
          <p:cNvPr id="12" name="Panel"/>
          <p:cNvSpPr/>
          <p:nvPr/>
        </p:nvSpPr>
        <p:spPr>
          <a:xfrm>
            <a:off x="585216" y="3063239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 12"/>
          <p:cNvSpPr txBox="1"/>
          <p:nvPr/>
        </p:nvSpPr>
        <p:spPr>
          <a:xfrm>
            <a:off x="630936" y="3099815"/>
            <a:ext cx="1572768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Code Mode</a:t>
            </a:r>
          </a:p>
        </p:txBody>
      </p:sp>
      <p:sp>
        <p:nvSpPr>
          <p:cNvPr id="14" name="Panel"/>
          <p:cNvSpPr/>
          <p:nvPr/>
        </p:nvSpPr>
        <p:spPr>
          <a:xfrm>
            <a:off x="585216" y="3602736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 14"/>
          <p:cNvSpPr txBox="1"/>
          <p:nvPr/>
        </p:nvSpPr>
        <p:spPr>
          <a:xfrm>
            <a:off x="630936" y="3639312"/>
            <a:ext cx="1572768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Optimization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2587752" y="1225296"/>
            <a:ext cx="1865376" cy="42062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Local Model</a:t>
            </a:r>
          </a:p>
        </p:txBody>
      </p:sp>
      <p:sp>
        <p:nvSpPr>
          <p:cNvPr id="17" name="Panel"/>
          <p:cNvSpPr/>
          <p:nvPr/>
        </p:nvSpPr>
        <p:spPr>
          <a:xfrm>
            <a:off x="2587752" y="1773936"/>
            <a:ext cx="1865376" cy="25237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BFC9C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anel"/>
          <p:cNvSpPr/>
          <p:nvPr/>
        </p:nvSpPr>
        <p:spPr>
          <a:xfrm>
            <a:off x="2688336" y="1984248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 18"/>
          <p:cNvSpPr txBox="1"/>
          <p:nvPr/>
        </p:nvSpPr>
        <p:spPr>
          <a:xfrm>
            <a:off x="2734056" y="2020824"/>
            <a:ext cx="1572768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vLLM</a:t>
            </a:r>
          </a:p>
        </p:txBody>
      </p:sp>
      <p:sp>
        <p:nvSpPr>
          <p:cNvPr id="20" name="Panel"/>
          <p:cNvSpPr/>
          <p:nvPr/>
        </p:nvSpPr>
        <p:spPr>
          <a:xfrm>
            <a:off x="2688336" y="2523744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20"/>
          <p:cNvSpPr txBox="1"/>
          <p:nvPr/>
        </p:nvSpPr>
        <p:spPr>
          <a:xfrm>
            <a:off x="2734056" y="2560320"/>
            <a:ext cx="1572768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KV Cache</a:t>
            </a:r>
          </a:p>
        </p:txBody>
      </p:sp>
      <p:sp>
        <p:nvSpPr>
          <p:cNvPr id="22" name="Panel"/>
          <p:cNvSpPr/>
          <p:nvPr/>
        </p:nvSpPr>
        <p:spPr>
          <a:xfrm>
            <a:off x="2688336" y="3063239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 22"/>
          <p:cNvSpPr txBox="1"/>
          <p:nvPr/>
        </p:nvSpPr>
        <p:spPr>
          <a:xfrm>
            <a:off x="2734056" y="3099815"/>
            <a:ext cx="1572768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Route Models</a:t>
            </a:r>
          </a:p>
        </p:txBody>
      </p:sp>
      <p:sp>
        <p:nvSpPr>
          <p:cNvPr id="24" name="Panel"/>
          <p:cNvSpPr/>
          <p:nvPr/>
        </p:nvSpPr>
        <p:spPr>
          <a:xfrm>
            <a:off x="2688336" y="3602736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 24"/>
          <p:cNvSpPr txBox="1"/>
          <p:nvPr/>
        </p:nvSpPr>
        <p:spPr>
          <a:xfrm>
            <a:off x="2734056" y="3639312"/>
            <a:ext cx="1572768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Hybrid Model Arch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4690872" y="1225296"/>
            <a:ext cx="1865376" cy="42062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Agent Guardrail</a:t>
            </a:r>
          </a:p>
        </p:txBody>
      </p:sp>
      <p:sp>
        <p:nvSpPr>
          <p:cNvPr id="27" name="Panel"/>
          <p:cNvSpPr/>
          <p:nvPr/>
        </p:nvSpPr>
        <p:spPr>
          <a:xfrm>
            <a:off x="4690872" y="1773936"/>
            <a:ext cx="1865376" cy="25237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BFC9C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anel"/>
          <p:cNvSpPr/>
          <p:nvPr/>
        </p:nvSpPr>
        <p:spPr>
          <a:xfrm>
            <a:off x="4791456" y="1984248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 28"/>
          <p:cNvSpPr txBox="1"/>
          <p:nvPr/>
        </p:nvSpPr>
        <p:spPr>
          <a:xfrm>
            <a:off x="4837176" y="2020824"/>
            <a:ext cx="1572768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Input Guardrail</a:t>
            </a:r>
          </a:p>
        </p:txBody>
      </p:sp>
      <p:sp>
        <p:nvSpPr>
          <p:cNvPr id="30" name="Panel"/>
          <p:cNvSpPr/>
          <p:nvPr/>
        </p:nvSpPr>
        <p:spPr>
          <a:xfrm>
            <a:off x="4791456" y="2523744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 30"/>
          <p:cNvSpPr txBox="1"/>
          <p:nvPr/>
        </p:nvSpPr>
        <p:spPr>
          <a:xfrm>
            <a:off x="4837176" y="2560320"/>
            <a:ext cx="1572768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Output Guardrail</a:t>
            </a:r>
          </a:p>
        </p:txBody>
      </p:sp>
      <p:sp>
        <p:nvSpPr>
          <p:cNvPr id="32" name="Panel"/>
          <p:cNvSpPr/>
          <p:nvPr/>
        </p:nvSpPr>
        <p:spPr>
          <a:xfrm>
            <a:off x="4791456" y="3063239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 32"/>
          <p:cNvSpPr txBox="1"/>
          <p:nvPr/>
        </p:nvSpPr>
        <p:spPr>
          <a:xfrm>
            <a:off x="4837176" y="3099815"/>
            <a:ext cx="1572768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Model Guardrail</a:t>
            </a:r>
          </a:p>
        </p:txBody>
      </p:sp>
      <p:sp>
        <p:nvSpPr>
          <p:cNvPr id="34" name="Panel"/>
          <p:cNvSpPr/>
          <p:nvPr/>
        </p:nvSpPr>
        <p:spPr>
          <a:xfrm>
            <a:off x="4791456" y="3602736"/>
            <a:ext cx="1664208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34"/>
          <p:cNvSpPr txBox="1"/>
          <p:nvPr/>
        </p:nvSpPr>
        <p:spPr>
          <a:xfrm>
            <a:off x="4837176" y="3639312"/>
            <a:ext cx="1572768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Code Guardrail</a:t>
            </a:r>
          </a:p>
        </p:txBody>
      </p:sp>
      <p:sp>
        <p:nvSpPr>
          <p:cNvPr id="36" name="Text 35"/>
          <p:cNvSpPr txBox="1"/>
          <p:nvPr/>
        </p:nvSpPr>
        <p:spPr>
          <a:xfrm>
            <a:off x="6793992" y="1225296"/>
            <a:ext cx="1865376" cy="42062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PJT</a:t>
            </a:r>
          </a:p>
        </p:txBody>
      </p:sp>
      <p:sp>
        <p:nvSpPr>
          <p:cNvPr id="37" name="Panel"/>
          <p:cNvSpPr/>
          <p:nvPr/>
        </p:nvSpPr>
        <p:spPr>
          <a:xfrm>
            <a:off x="6793992" y="1773936"/>
            <a:ext cx="1865376" cy="25237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BFC9C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Panel"/>
          <p:cNvSpPr/>
          <p:nvPr/>
        </p:nvSpPr>
        <p:spPr>
          <a:xfrm>
            <a:off x="6894576" y="1984248"/>
            <a:ext cx="166420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 38"/>
          <p:cNvSpPr txBox="1"/>
          <p:nvPr/>
        </p:nvSpPr>
        <p:spPr>
          <a:xfrm>
            <a:off x="6940296" y="2020824"/>
            <a:ext cx="1572768" cy="53035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Coding Harness</a:t>
            </a:r>
          </a:p>
        </p:txBody>
      </p:sp>
      <p:sp>
        <p:nvSpPr>
          <p:cNvPr id="40" name="Panel"/>
          <p:cNvSpPr/>
          <p:nvPr/>
        </p:nvSpPr>
        <p:spPr>
          <a:xfrm>
            <a:off x="6894576" y="2816352"/>
            <a:ext cx="166420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AEB9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40"/>
          <p:cNvSpPr txBox="1"/>
          <p:nvPr/>
        </p:nvSpPr>
        <p:spPr>
          <a:xfrm>
            <a:off x="6940296" y="2852928"/>
            <a:ext cx="1572768" cy="53035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Context Control</a:t>
            </a:r>
          </a:p>
        </p:txBody>
      </p:sp>
      <p:sp>
        <p:nvSpPr>
          <p:cNvPr id="42" name="Panel"/>
          <p:cNvSpPr/>
          <p:nvPr/>
        </p:nvSpPr>
        <p:spPr>
          <a:xfrm>
            <a:off x="640080" y="4507992"/>
            <a:ext cx="32004" cy="329184"/>
          </a:xfrm>
          <a:prstGeom prst="rect">
            <a:avLst/>
          </a:prstGeom>
          <a:solidFill>
            <a:srgbClr val="00B8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 42"/>
          <p:cNvSpPr txBox="1"/>
          <p:nvPr/>
        </p:nvSpPr>
        <p:spPr>
          <a:xfrm>
            <a:off x="786384" y="4517136"/>
            <a:ext cx="7644383" cy="30175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구현 기술은 뒤에서 확장합니다. 오늘은 검색·답변의 판단 기준을 잡습니다.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06_PRESERVED" descr="page_06_as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372160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384048" y="957376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sp>
        <p:nvSpPr>
          <p:cNvPr id="4" name="Slide title"/>
          <p:cNvSpPr txBox="1"/>
          <p:nvPr/>
        </p:nvSpPr>
        <p:spPr>
          <a:xfrm>
            <a:off x="640080" y="528321"/>
            <a:ext cx="7900416" cy="33832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40" b="1" dirty="0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오늘 수업의 전체 방향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8613648" y="4837176"/>
            <a:ext cx="301752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4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7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658368" y="1143000"/>
            <a:ext cx="7818120" cy="3017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20" b="1" dirty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자료 </a:t>
            </a:r>
            <a:r>
              <a:rPr lang="ko-KR" sz="1420" b="1" dirty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검색이 잘못됐나요, 찾은 자료를 잘못 사용했나요?</a:t>
            </a:r>
          </a:p>
        </p:txBody>
      </p:sp>
      <p:sp>
        <p:nvSpPr>
          <p:cNvPr id="7" name="Panel"/>
          <p:cNvSpPr/>
          <p:nvPr/>
        </p:nvSpPr>
        <p:spPr>
          <a:xfrm>
            <a:off x="658368" y="1773936"/>
            <a:ext cx="384048" cy="228600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 7"/>
          <p:cNvSpPr txBox="1"/>
          <p:nvPr/>
        </p:nvSpPr>
        <p:spPr>
          <a:xfrm>
            <a:off x="704088" y="1796795"/>
            <a:ext cx="292607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01</a:t>
            </a:r>
          </a:p>
        </p:txBody>
      </p:sp>
      <p:sp>
        <p:nvSpPr>
          <p:cNvPr id="9" name="Panel"/>
          <p:cNvSpPr/>
          <p:nvPr/>
        </p:nvSpPr>
        <p:spPr>
          <a:xfrm>
            <a:off x="658368" y="2121408"/>
            <a:ext cx="2359152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1D8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 9"/>
          <p:cNvSpPr txBox="1"/>
          <p:nvPr/>
        </p:nvSpPr>
        <p:spPr>
          <a:xfrm>
            <a:off x="795528" y="2276856"/>
            <a:ext cx="2084831" cy="2926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3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AI 모델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786384" y="2724912"/>
            <a:ext cx="2103120" cy="4754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어떤 입력을 보고</a:t>
            </a:r>
          </a:p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어떻게 생성하는가?</a:t>
            </a:r>
          </a:p>
        </p:txBody>
      </p:sp>
      <p:sp>
        <p:nvSpPr>
          <p:cNvPr id="12" name="Panel"/>
          <p:cNvSpPr/>
          <p:nvPr/>
        </p:nvSpPr>
        <p:spPr>
          <a:xfrm>
            <a:off x="3355848" y="1773936"/>
            <a:ext cx="384048" cy="228600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 12"/>
          <p:cNvSpPr txBox="1"/>
          <p:nvPr/>
        </p:nvSpPr>
        <p:spPr>
          <a:xfrm>
            <a:off x="3401568" y="1796795"/>
            <a:ext cx="292607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02</a:t>
            </a:r>
          </a:p>
        </p:txBody>
      </p:sp>
      <p:sp>
        <p:nvSpPr>
          <p:cNvPr id="14" name="Panel"/>
          <p:cNvSpPr/>
          <p:nvPr/>
        </p:nvSpPr>
        <p:spPr>
          <a:xfrm>
            <a:off x="3355848" y="2121408"/>
            <a:ext cx="2359152" cy="1234440"/>
          </a:xfrm>
          <a:prstGeom prst="rect">
            <a:avLst/>
          </a:prstGeom>
          <a:solidFill>
            <a:srgbClr val="EFF8F0"/>
          </a:solidFill>
          <a:ln w="8890">
            <a:solidFill>
              <a:srgbClr val="0084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 14"/>
          <p:cNvSpPr txBox="1"/>
          <p:nvPr/>
        </p:nvSpPr>
        <p:spPr>
          <a:xfrm>
            <a:off x="3493008" y="2276856"/>
            <a:ext cx="2084831" cy="2926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3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Search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3483864" y="2724912"/>
            <a:ext cx="2103120" cy="4754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질문에 필요한</a:t>
            </a:r>
          </a:p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근거를 확보했는가?</a:t>
            </a:r>
          </a:p>
        </p:txBody>
      </p:sp>
      <p:sp>
        <p:nvSpPr>
          <p:cNvPr id="17" name="Panel"/>
          <p:cNvSpPr/>
          <p:nvPr/>
        </p:nvSpPr>
        <p:spPr>
          <a:xfrm>
            <a:off x="6053328" y="1773936"/>
            <a:ext cx="384048" cy="228600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 17"/>
          <p:cNvSpPr txBox="1"/>
          <p:nvPr/>
        </p:nvSpPr>
        <p:spPr>
          <a:xfrm>
            <a:off x="6099048" y="1796795"/>
            <a:ext cx="292607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03</a:t>
            </a:r>
          </a:p>
        </p:txBody>
      </p:sp>
      <p:sp>
        <p:nvSpPr>
          <p:cNvPr id="19" name="Panel"/>
          <p:cNvSpPr/>
          <p:nvPr/>
        </p:nvSpPr>
        <p:spPr>
          <a:xfrm>
            <a:off x="6053328" y="2121408"/>
            <a:ext cx="2359152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1D8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 19"/>
          <p:cNvSpPr txBox="1"/>
          <p:nvPr/>
        </p:nvSpPr>
        <p:spPr>
          <a:xfrm>
            <a:off x="6190488" y="2276856"/>
            <a:ext cx="2084831" cy="2926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3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Answer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6181344" y="2724912"/>
            <a:ext cx="2103120" cy="4754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그 근거로 질문에 맞게</a:t>
            </a:r>
          </a:p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답변했는가?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44952" y="2724912"/>
            <a:ext cx="274320" cy="0"/>
          </a:xfrm>
          <a:prstGeom prst="line">
            <a:avLst/>
          </a:prstGeom>
          <a:ln w="14604">
            <a:solidFill>
              <a:srgbClr val="56605A"/>
            </a:solidFill>
            <a:tailEnd type="triangle" w="sm" len="sm"/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5742432" y="2724912"/>
            <a:ext cx="274320" cy="0"/>
          </a:xfrm>
          <a:prstGeom prst="line">
            <a:avLst/>
          </a:prstGeom>
          <a:ln w="14604">
            <a:solidFill>
              <a:srgbClr val="56605A"/>
            </a:solidFill>
            <a:tailEnd type="triangle" w="sm" len="sm"/>
          </a:ln>
          <a:effectLst/>
        </p:spPr>
      </p:cxnSp>
      <p:sp>
        <p:nvSpPr>
          <p:cNvPr id="24" name="Text 23"/>
          <p:cNvSpPr txBox="1"/>
          <p:nvPr/>
        </p:nvSpPr>
        <p:spPr>
          <a:xfrm>
            <a:off x="676656" y="3547872"/>
            <a:ext cx="7708392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6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고객의 요구를, 우리가 확인할 기준으로 바꿉니다.</a:t>
            </a:r>
          </a:p>
        </p:txBody>
      </p:sp>
      <p:sp>
        <p:nvSpPr>
          <p:cNvPr id="25" name="Panel"/>
          <p:cNvSpPr/>
          <p:nvPr/>
        </p:nvSpPr>
        <p:spPr>
          <a:xfrm>
            <a:off x="667512" y="3867912"/>
            <a:ext cx="2340864" cy="393192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25"/>
          <p:cNvSpPr txBox="1"/>
          <p:nvPr/>
        </p:nvSpPr>
        <p:spPr>
          <a:xfrm>
            <a:off x="777240" y="3913632"/>
            <a:ext cx="1051560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7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빨리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1764792" y="3913632"/>
            <a:ext cx="1143000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7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시간·호출 수</a:t>
            </a:r>
          </a:p>
        </p:txBody>
      </p:sp>
      <p:sp>
        <p:nvSpPr>
          <p:cNvPr id="28" name="Panel"/>
          <p:cNvSpPr/>
          <p:nvPr/>
        </p:nvSpPr>
        <p:spPr>
          <a:xfrm>
            <a:off x="3364992" y="3867912"/>
            <a:ext cx="2340864" cy="393192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 28"/>
          <p:cNvSpPr txBox="1"/>
          <p:nvPr/>
        </p:nvSpPr>
        <p:spPr>
          <a:xfrm>
            <a:off x="3474720" y="3913632"/>
            <a:ext cx="1051560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7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알아서 잘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4462272" y="3913632"/>
            <a:ext cx="1143000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7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근거·충분성</a:t>
            </a:r>
          </a:p>
        </p:txBody>
      </p:sp>
      <p:sp>
        <p:nvSpPr>
          <p:cNvPr id="31" name="Panel"/>
          <p:cNvSpPr/>
          <p:nvPr/>
        </p:nvSpPr>
        <p:spPr>
          <a:xfrm>
            <a:off x="6062472" y="3867912"/>
            <a:ext cx="2340864" cy="393192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 31"/>
          <p:cNvSpPr txBox="1"/>
          <p:nvPr/>
        </p:nvSpPr>
        <p:spPr>
          <a:xfrm>
            <a:off x="6172200" y="3913632"/>
            <a:ext cx="1051560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7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정해진 포맷</a:t>
            </a:r>
          </a:p>
        </p:txBody>
      </p:sp>
      <p:sp>
        <p:nvSpPr>
          <p:cNvPr id="33" name="Text 32"/>
          <p:cNvSpPr txBox="1"/>
          <p:nvPr/>
        </p:nvSpPr>
        <p:spPr>
          <a:xfrm>
            <a:off x="7159752" y="3913632"/>
            <a:ext cx="1143000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7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형식·완료 상태</a:t>
            </a:r>
          </a:p>
        </p:txBody>
      </p:sp>
      <p:sp>
        <p:nvSpPr>
          <p:cNvPr id="34" name="Panel"/>
          <p:cNvSpPr/>
          <p:nvPr/>
        </p:nvSpPr>
        <p:spPr>
          <a:xfrm>
            <a:off x="640080" y="4507992"/>
            <a:ext cx="32004" cy="329184"/>
          </a:xfrm>
          <a:prstGeom prst="rect">
            <a:avLst/>
          </a:prstGeom>
          <a:solidFill>
            <a:srgbClr val="00B8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34"/>
          <p:cNvSpPr txBox="1"/>
          <p:nvPr/>
        </p:nvSpPr>
        <p:spPr>
          <a:xfrm>
            <a:off x="786384" y="4517136"/>
            <a:ext cx="7644383" cy="30175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10" b="1" dirty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둘을 연결한 뒤, 근거가 부족할 때 다시 찾고 필요하면 멈추게 만듭니다.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08_PRESERVED" descr="page_08_as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372160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384048" y="957376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sp>
        <p:nvSpPr>
          <p:cNvPr id="4" name="Slide title"/>
          <p:cNvSpPr txBox="1"/>
          <p:nvPr/>
        </p:nvSpPr>
        <p:spPr>
          <a:xfrm>
            <a:off x="640080" y="501227"/>
            <a:ext cx="7900416" cy="33832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40" b="1" dirty="0" err="1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Attention</a:t>
            </a:r>
            <a:r>
              <a:rPr lang="ko-KR" sz="2140" b="1" dirty="0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</a:t>
            </a:r>
            <a:r>
              <a:rPr lang="ko-KR" sz="2140" b="1" dirty="0" err="1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Is</a:t>
            </a:r>
            <a:r>
              <a:rPr lang="ko-KR" sz="2140" b="1" dirty="0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All </a:t>
            </a:r>
            <a:r>
              <a:rPr lang="ko-KR" sz="2140" b="1" dirty="0" err="1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You</a:t>
            </a:r>
            <a:r>
              <a:rPr lang="ko-KR" sz="2140" b="1" dirty="0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</a:t>
            </a:r>
            <a:r>
              <a:rPr lang="ko-KR" sz="2140" b="1" dirty="0" err="1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Need</a:t>
            </a:r>
            <a:endParaRPr lang="ko-KR" sz="2140" b="1" dirty="0">
              <a:solidFill>
                <a:srgbClr val="171A18"/>
              </a:solidFill>
              <a:latin typeface="Gothic A1 ExtraBold" pitchFamily="2" charset="-127"/>
              <a:ea typeface="Gothic A1 ExtraBold" pitchFamily="2" charset="-127"/>
              <a:cs typeface="Gothic A1 ExtraBold" pitchFamily="2" charset="-127"/>
            </a:endParaRPr>
          </a:p>
        </p:txBody>
      </p:sp>
      <p:sp>
        <p:nvSpPr>
          <p:cNvPr id="5" name="Page number"/>
          <p:cNvSpPr txBox="1"/>
          <p:nvPr/>
        </p:nvSpPr>
        <p:spPr>
          <a:xfrm>
            <a:off x="8613648" y="4837176"/>
            <a:ext cx="301752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4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9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658368" y="1143000"/>
            <a:ext cx="7818120" cy="3017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2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Transformer는 Attention을 중심으로 입력과 출력의 관계를 계산합니다.</a:t>
            </a:r>
          </a:p>
        </p:txBody>
      </p:sp>
      <p:pic>
        <p:nvPicPr>
          <p:cNvPr id="9" name="Picture 8" descr="transformer_2017_fig1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67" y="1542592"/>
            <a:ext cx="2040757" cy="2928824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3758184" y="1673352"/>
            <a:ext cx="0" cy="2633472"/>
          </a:xfrm>
          <a:prstGeom prst="line">
            <a:avLst/>
          </a:prstGeom>
          <a:ln w="10160">
            <a:solidFill>
              <a:srgbClr val="D1D8D3"/>
            </a:solidFill>
          </a:ln>
          <a:effectLst/>
        </p:spPr>
      </p:cxnSp>
      <p:sp>
        <p:nvSpPr>
          <p:cNvPr id="11" name="Panel"/>
          <p:cNvSpPr/>
          <p:nvPr/>
        </p:nvSpPr>
        <p:spPr>
          <a:xfrm>
            <a:off x="4050791" y="1728216"/>
            <a:ext cx="329184" cy="219456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11"/>
          <p:cNvSpPr txBox="1"/>
          <p:nvPr/>
        </p:nvSpPr>
        <p:spPr>
          <a:xfrm>
            <a:off x="4096511" y="1751075"/>
            <a:ext cx="237744" cy="17373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19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01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4517136" y="1714500"/>
            <a:ext cx="3858768" cy="2743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Attention: 필요한 위치의 정보를 조합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4526280" y="2066543"/>
            <a:ext cx="3767328" cy="4754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6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토큰 사이의 관계를 계산해</a:t>
            </a:r>
          </a:p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6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현재 위치의 표현을 만듭니다.</a:t>
            </a:r>
          </a:p>
        </p:txBody>
      </p:sp>
      <p:sp>
        <p:nvSpPr>
          <p:cNvPr id="15" name="Panel"/>
          <p:cNvSpPr/>
          <p:nvPr/>
        </p:nvSpPr>
        <p:spPr>
          <a:xfrm>
            <a:off x="4050791" y="2633472"/>
            <a:ext cx="329184" cy="219456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15"/>
          <p:cNvSpPr txBox="1"/>
          <p:nvPr/>
        </p:nvSpPr>
        <p:spPr>
          <a:xfrm>
            <a:off x="4096511" y="2656332"/>
            <a:ext cx="237744" cy="17373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19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02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4517136" y="2619756"/>
            <a:ext cx="3858768" cy="2743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Attention만 있는 구조는 아닙니다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4526280" y="2971800"/>
            <a:ext cx="3767328" cy="4754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6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위치 정보, Feed Forward, 정규화도</a:t>
            </a:r>
          </a:p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6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원본 모델에 포함됩니다.</a:t>
            </a:r>
          </a:p>
        </p:txBody>
      </p:sp>
      <p:sp>
        <p:nvSpPr>
          <p:cNvPr id="19" name="Panel"/>
          <p:cNvSpPr/>
          <p:nvPr/>
        </p:nvSpPr>
        <p:spPr>
          <a:xfrm>
            <a:off x="4050791" y="3538728"/>
            <a:ext cx="329184" cy="219456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 19"/>
          <p:cNvSpPr txBox="1"/>
          <p:nvPr/>
        </p:nvSpPr>
        <p:spPr>
          <a:xfrm>
            <a:off x="4096511" y="3561588"/>
            <a:ext cx="237744" cy="17373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19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03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4517136" y="3525012"/>
            <a:ext cx="3858768" cy="2743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4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원본은 Encoder–Decoder 구조입니다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4526280" y="3877056"/>
            <a:ext cx="3767328" cy="4754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6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입력 표현을 만드는 부분과</a:t>
            </a:r>
          </a:p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6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출력을 생성하는 부분을 구분합니다.</a:t>
            </a:r>
          </a:p>
        </p:txBody>
      </p:sp>
      <p:sp>
        <p:nvSpPr>
          <p:cNvPr id="23" name="Panel"/>
          <p:cNvSpPr/>
          <p:nvPr/>
        </p:nvSpPr>
        <p:spPr>
          <a:xfrm>
            <a:off x="640080" y="4507992"/>
            <a:ext cx="32004" cy="329184"/>
          </a:xfrm>
          <a:prstGeom prst="rect">
            <a:avLst/>
          </a:prstGeom>
          <a:solidFill>
            <a:srgbClr val="00B8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 23"/>
          <p:cNvSpPr txBox="1"/>
          <p:nvPr/>
        </p:nvSpPr>
        <p:spPr>
          <a:xfrm>
            <a:off x="786384" y="4517136"/>
            <a:ext cx="7644383" cy="30175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1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다음 질문: 이 구조를 “다음 토큰 예측”에 사용하면 무엇을 학습할까요?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372160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384048" y="957376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sp>
        <p:nvSpPr>
          <p:cNvPr id="4" name="Slide title"/>
          <p:cNvSpPr txBox="1"/>
          <p:nvPr/>
        </p:nvSpPr>
        <p:spPr>
          <a:xfrm>
            <a:off x="640080" y="514775"/>
            <a:ext cx="7900416" cy="33832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40" b="1" dirty="0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GPT 베이스 모델은 무엇을 학습하나요?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8613648" y="4837176"/>
            <a:ext cx="301752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4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10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658368" y="1143000"/>
            <a:ext cx="7818120" cy="3017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2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다음 토큰 예측으로 표현을 학습하고, 그 표현을 목표 작업에 재사용합니다.</a:t>
            </a:r>
          </a:p>
        </p:txBody>
      </p:sp>
      <p:pic>
        <p:nvPicPr>
          <p:cNvPr id="9" name="Picture 8" descr="gpt_2018_fig1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607802"/>
            <a:ext cx="1384216" cy="2635014"/>
          </a:xfrm>
          <a:prstGeom prst="rect">
            <a:avLst/>
          </a:prstGeom>
        </p:spPr>
      </p:pic>
      <p:sp>
        <p:nvSpPr>
          <p:cNvPr id="10" name="Text 9"/>
          <p:cNvSpPr txBox="1"/>
          <p:nvPr/>
        </p:nvSpPr>
        <p:spPr>
          <a:xfrm>
            <a:off x="777240" y="4261104"/>
            <a:ext cx="2578608" cy="17373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10" b="0" dirty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GPT: </a:t>
            </a:r>
            <a:r>
              <a:rPr lang="ko-KR" sz="810" b="0" dirty="0" err="1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Generative</a:t>
            </a:r>
            <a:r>
              <a:rPr lang="ko-KR" sz="810" b="0" dirty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 </a:t>
            </a:r>
            <a:r>
              <a:rPr lang="ko-KR" sz="810" b="0" dirty="0" err="1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Pre-trained</a:t>
            </a:r>
            <a:r>
              <a:rPr lang="ko-KR" sz="810" b="0" dirty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 </a:t>
            </a:r>
            <a:r>
              <a:rPr lang="ko-KR" sz="810" b="0" dirty="0" err="1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Transformer</a:t>
            </a:r>
            <a:endParaRPr lang="ko-KR" sz="810" b="0" dirty="0">
              <a:solidFill>
                <a:srgbClr val="56605A"/>
              </a:solidFill>
              <a:latin typeface="Gothic A1"/>
              <a:ea typeface="Gothic A1"/>
              <a:cs typeface="Gothic A1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547872" y="1700784"/>
            <a:ext cx="0" cy="2624328"/>
          </a:xfrm>
          <a:prstGeom prst="line">
            <a:avLst/>
          </a:prstGeom>
          <a:ln w="8890">
            <a:solidFill>
              <a:srgbClr val="D1D8D3"/>
            </a:solidFill>
          </a:ln>
          <a:effectLst/>
        </p:spPr>
      </p:cxnSp>
      <p:sp>
        <p:nvSpPr>
          <p:cNvPr id="12" name="Text 11"/>
          <p:cNvSpPr txBox="1"/>
          <p:nvPr/>
        </p:nvSpPr>
        <p:spPr>
          <a:xfrm>
            <a:off x="3867912" y="1618488"/>
            <a:ext cx="4517136" cy="2377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4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2018년 논문의 학습 구성은 두 단계입니다.</a:t>
            </a:r>
          </a:p>
        </p:txBody>
      </p:sp>
      <p:sp>
        <p:nvSpPr>
          <p:cNvPr id="13" name="Panel"/>
          <p:cNvSpPr/>
          <p:nvPr/>
        </p:nvSpPr>
        <p:spPr>
          <a:xfrm>
            <a:off x="3858768" y="1984248"/>
            <a:ext cx="4507992" cy="905256"/>
          </a:xfrm>
          <a:prstGeom prst="rect">
            <a:avLst/>
          </a:prstGeom>
          <a:solidFill>
            <a:srgbClr val="EFF8F0"/>
          </a:solidFill>
          <a:ln w="8890">
            <a:solidFill>
              <a:srgbClr val="0084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 13"/>
          <p:cNvSpPr txBox="1"/>
          <p:nvPr/>
        </p:nvSpPr>
        <p:spPr>
          <a:xfrm>
            <a:off x="4050791" y="2112264"/>
            <a:ext cx="4087368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1. 사전학습 | 원문의 다음 토큰 예측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4059936" y="2496312"/>
            <a:ext cx="4041648" cy="2377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9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이 예측을 잘하도록 모델의 가중치(Θ)를 갱신합니다.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08192" y="2916936"/>
            <a:ext cx="0" cy="192024"/>
          </a:xfrm>
          <a:prstGeom prst="line">
            <a:avLst/>
          </a:prstGeom>
          <a:ln w="12700">
            <a:solidFill>
              <a:srgbClr val="56605A"/>
            </a:solidFill>
            <a:tailEnd type="triangle" w="sm" len="sm"/>
          </a:ln>
          <a:effectLst/>
        </p:spPr>
      </p:cxnSp>
      <p:sp>
        <p:nvSpPr>
          <p:cNvPr id="17" name="Panel"/>
          <p:cNvSpPr/>
          <p:nvPr/>
        </p:nvSpPr>
        <p:spPr>
          <a:xfrm>
            <a:off x="3858768" y="3163824"/>
            <a:ext cx="4507992" cy="941832"/>
          </a:xfrm>
          <a:prstGeom prst="rect">
            <a:avLst/>
          </a:prstGeom>
          <a:solidFill>
            <a:srgbClr val="FFFFFF"/>
          </a:solidFill>
          <a:ln w="8890">
            <a:solidFill>
              <a:srgbClr val="D1D8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 17"/>
          <p:cNvSpPr txBox="1"/>
          <p:nvPr/>
        </p:nvSpPr>
        <p:spPr>
          <a:xfrm>
            <a:off x="4050791" y="3300984"/>
            <a:ext cx="4087368" cy="2560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2. 지도 미세조정 | 목표 작업으로 적응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4059936" y="3685032"/>
            <a:ext cx="4041648" cy="246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9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작업별 입력 변환은 이 단계에서 사용하는 설계입니다.</a:t>
            </a:r>
          </a:p>
        </p:txBody>
      </p:sp>
      <p:sp>
        <p:nvSpPr>
          <p:cNvPr id="20" name="Panel"/>
          <p:cNvSpPr/>
          <p:nvPr/>
        </p:nvSpPr>
        <p:spPr>
          <a:xfrm>
            <a:off x="640080" y="4507992"/>
            <a:ext cx="32004" cy="329184"/>
          </a:xfrm>
          <a:prstGeom prst="rect">
            <a:avLst/>
          </a:prstGeom>
          <a:solidFill>
            <a:srgbClr val="00B8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20"/>
          <p:cNvSpPr txBox="1"/>
          <p:nvPr/>
        </p:nvSpPr>
        <p:spPr>
          <a:xfrm>
            <a:off x="786384" y="4517136"/>
            <a:ext cx="7644383" cy="30175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80" b="1" dirty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사전학습의 핵심은, </a:t>
            </a:r>
            <a:r>
              <a:rPr lang="ko-KR" sz="1280" b="1" u="sng" dirty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원문에서 다음 토큰을 예측하는 규칙을 배우는 것</a:t>
            </a:r>
            <a:r>
              <a:rPr lang="ko-KR" sz="1280" b="1" dirty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372160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384048" y="957376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sp>
        <p:nvSpPr>
          <p:cNvPr id="4" name="Slide title"/>
          <p:cNvSpPr txBox="1"/>
          <p:nvPr/>
        </p:nvSpPr>
        <p:spPr>
          <a:xfrm>
            <a:off x="640080" y="508001"/>
            <a:ext cx="7900416" cy="33832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40" b="1" dirty="0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GPT</a:t>
            </a:r>
            <a:r>
              <a:rPr lang="ko-KR" altLang="en-US" sz="2140" b="1" dirty="0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모델 구조</a:t>
            </a:r>
            <a:r>
              <a:rPr lang="ko-KR" sz="2140" b="1" dirty="0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의 기본 목표: 다음 토큰 예측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8613648" y="4837176"/>
            <a:ext cx="301752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4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11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658368" y="1143000"/>
            <a:ext cx="7818120" cy="3017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2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앞 토큰들을 조건으로, 원문에서 다음에 나온 토큰의 확률을 높입니다.</a:t>
            </a:r>
          </a:p>
        </p:txBody>
      </p:sp>
      <p:sp>
        <p:nvSpPr>
          <p:cNvPr id="9" name="Panel"/>
          <p:cNvSpPr/>
          <p:nvPr/>
        </p:nvSpPr>
        <p:spPr>
          <a:xfrm>
            <a:off x="685799" y="1627632"/>
            <a:ext cx="7744968" cy="694944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gpt_2018_eq1_type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79" y="1673353"/>
            <a:ext cx="4892040" cy="591505"/>
          </a:xfrm>
          <a:prstGeom prst="rect">
            <a:avLst/>
          </a:prstGeom>
        </p:spPr>
      </p:pic>
      <p:sp>
        <p:nvSpPr>
          <p:cNvPr id="11" name="Text 10"/>
          <p:cNvSpPr txBox="1"/>
          <p:nvPr/>
        </p:nvSpPr>
        <p:spPr>
          <a:xfrm>
            <a:off x="932687" y="2450593"/>
            <a:ext cx="2148840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정답 토큰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932687" y="2715769"/>
            <a:ext cx="2240280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6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u_i: 다음에 실제로 나온 토큰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3657599" y="2450593"/>
            <a:ext cx="2148840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조건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3657599" y="2715769"/>
            <a:ext cx="2240280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6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앞선 k개의 토큰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6181343" y="2450593"/>
            <a:ext cx="2148840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5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학습 대상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6181343" y="2715769"/>
            <a:ext cx="2240280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6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Θ: 모델의 가중치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4087" y="3026665"/>
            <a:ext cx="7717536" cy="0"/>
          </a:xfrm>
          <a:prstGeom prst="line">
            <a:avLst/>
          </a:prstGeom>
          <a:ln w="8890">
            <a:solidFill>
              <a:srgbClr val="D1D8D3"/>
            </a:solidFill>
          </a:ln>
          <a:effectLst/>
        </p:spPr>
      </p:cxnSp>
      <p:sp>
        <p:nvSpPr>
          <p:cNvPr id="18" name="Text 17"/>
          <p:cNvSpPr txBox="1"/>
          <p:nvPr/>
        </p:nvSpPr>
        <p:spPr>
          <a:xfrm>
            <a:off x="740663" y="3232405"/>
            <a:ext cx="1920240" cy="4754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dirty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원문을 한 칸씩 이동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2862071" y="3232405"/>
            <a:ext cx="3456432" cy="1920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모델에 제공한 앞부분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6995159" y="3232405"/>
            <a:ext cx="1335024" cy="1920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다음 정답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2862071" y="3497580"/>
            <a:ext cx="3630168" cy="1828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오늘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9943" y="3589020"/>
            <a:ext cx="329184" cy="0"/>
          </a:xfrm>
          <a:prstGeom prst="line">
            <a:avLst/>
          </a:prstGeom>
          <a:ln w="10160">
            <a:solidFill>
              <a:srgbClr val="56605A"/>
            </a:solidFill>
            <a:tailEnd type="triangle" w="sm" len="sm"/>
          </a:ln>
          <a:effectLst/>
        </p:spPr>
      </p:cxnSp>
      <p:sp>
        <p:nvSpPr>
          <p:cNvPr id="23" name="Text 22"/>
          <p:cNvSpPr txBox="1"/>
          <p:nvPr/>
        </p:nvSpPr>
        <p:spPr>
          <a:xfrm>
            <a:off x="6958583" y="3497580"/>
            <a:ext cx="1371600" cy="1920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날씨가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2862071" y="3712465"/>
            <a:ext cx="3630168" cy="1828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오늘 날씨가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9943" y="3803904"/>
            <a:ext cx="329184" cy="0"/>
          </a:xfrm>
          <a:prstGeom prst="line">
            <a:avLst/>
          </a:prstGeom>
          <a:ln w="10160">
            <a:solidFill>
              <a:srgbClr val="56605A"/>
            </a:solidFill>
            <a:tailEnd type="triangle" w="sm" len="sm"/>
          </a:ln>
          <a:effectLst/>
        </p:spPr>
      </p:cxnSp>
      <p:sp>
        <p:nvSpPr>
          <p:cNvPr id="26" name="Text 25"/>
          <p:cNvSpPr txBox="1"/>
          <p:nvPr/>
        </p:nvSpPr>
        <p:spPr>
          <a:xfrm>
            <a:off x="6958583" y="3712465"/>
            <a:ext cx="1371600" cy="1920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정말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2862071" y="3927348"/>
            <a:ext cx="3630168" cy="1828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오늘 날씨가 정말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9943" y="4018788"/>
            <a:ext cx="329184" cy="0"/>
          </a:xfrm>
          <a:prstGeom prst="line">
            <a:avLst/>
          </a:prstGeom>
          <a:ln w="10160">
            <a:solidFill>
              <a:srgbClr val="56605A"/>
            </a:solidFill>
            <a:tailEnd type="triangle" w="sm" len="sm"/>
          </a:ln>
          <a:effectLst/>
        </p:spPr>
      </p:cxnSp>
      <p:sp>
        <p:nvSpPr>
          <p:cNvPr id="29" name="Text 28"/>
          <p:cNvSpPr txBox="1"/>
          <p:nvPr/>
        </p:nvSpPr>
        <p:spPr>
          <a:xfrm>
            <a:off x="6958583" y="3927348"/>
            <a:ext cx="1371600" cy="1920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좋네요</a:t>
            </a:r>
          </a:p>
        </p:txBody>
      </p:sp>
      <p:sp>
        <p:nvSpPr>
          <p:cNvPr id="30" name="Panel"/>
          <p:cNvSpPr/>
          <p:nvPr/>
        </p:nvSpPr>
        <p:spPr>
          <a:xfrm>
            <a:off x="640080" y="4507992"/>
            <a:ext cx="32004" cy="329184"/>
          </a:xfrm>
          <a:prstGeom prst="rect">
            <a:avLst/>
          </a:prstGeom>
          <a:solidFill>
            <a:srgbClr val="00B8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 30"/>
          <p:cNvSpPr txBox="1"/>
          <p:nvPr/>
        </p:nvSpPr>
        <p:spPr>
          <a:xfrm>
            <a:off x="786384" y="4517136"/>
            <a:ext cx="7644383" cy="30175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3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정답을 따로 작성하지 않아도, 원문에서 다음 토큰이라는 학습 목표를 얻습니다.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372160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384048" y="957376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sp>
        <p:nvSpPr>
          <p:cNvPr id="4" name="Slide title"/>
          <p:cNvSpPr txBox="1"/>
          <p:nvPr/>
        </p:nvSpPr>
        <p:spPr>
          <a:xfrm>
            <a:off x="640080" y="514775"/>
            <a:ext cx="7900416" cy="33832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40" b="1" dirty="0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Auto-</a:t>
            </a:r>
            <a:r>
              <a:rPr lang="ko-KR" sz="2140" b="1" dirty="0" err="1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Regressive</a:t>
            </a:r>
            <a:r>
              <a:rPr lang="ko-KR" sz="2140" b="1" dirty="0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: 학습과 생성은 구분합니다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8613648" y="4837176"/>
            <a:ext cx="301752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4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12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658368" y="1143000"/>
            <a:ext cx="7818120" cy="3017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2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같은 다음 토큰 예측이라도, 학습할 때와 생성할 때의 입력은 다릅니다.</a:t>
            </a:r>
          </a:p>
        </p:txBody>
      </p:sp>
      <p:sp>
        <p:nvSpPr>
          <p:cNvPr id="7" name="Panel"/>
          <p:cNvSpPr/>
          <p:nvPr/>
        </p:nvSpPr>
        <p:spPr>
          <a:xfrm>
            <a:off x="676656" y="1746504"/>
            <a:ext cx="3767328" cy="2514600"/>
          </a:xfrm>
          <a:prstGeom prst="rect">
            <a:avLst/>
          </a:prstGeom>
          <a:solidFill>
            <a:srgbClr val="FFFFFF"/>
          </a:solidFill>
          <a:ln w="8890">
            <a:solidFill>
              <a:srgbClr val="D1D8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anel"/>
          <p:cNvSpPr/>
          <p:nvPr/>
        </p:nvSpPr>
        <p:spPr>
          <a:xfrm>
            <a:off x="4672584" y="1746504"/>
            <a:ext cx="3767328" cy="2514600"/>
          </a:xfrm>
          <a:prstGeom prst="rect">
            <a:avLst/>
          </a:prstGeom>
          <a:solidFill>
            <a:srgbClr val="FFFFFF"/>
          </a:solidFill>
          <a:ln w="8890">
            <a:solidFill>
              <a:srgbClr val="0084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anel"/>
          <p:cNvSpPr/>
          <p:nvPr/>
        </p:nvSpPr>
        <p:spPr>
          <a:xfrm>
            <a:off x="877824" y="1892807"/>
            <a:ext cx="1143000" cy="228600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 9"/>
          <p:cNvSpPr txBox="1"/>
          <p:nvPr/>
        </p:nvSpPr>
        <p:spPr>
          <a:xfrm>
            <a:off x="923544" y="1915667"/>
            <a:ext cx="105156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학습 Training</a:t>
            </a:r>
          </a:p>
        </p:txBody>
      </p:sp>
      <p:sp>
        <p:nvSpPr>
          <p:cNvPr id="11" name="Panel"/>
          <p:cNvSpPr/>
          <p:nvPr/>
        </p:nvSpPr>
        <p:spPr>
          <a:xfrm>
            <a:off x="4873752" y="1892807"/>
            <a:ext cx="1371600" cy="228600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11"/>
          <p:cNvSpPr txBox="1"/>
          <p:nvPr/>
        </p:nvSpPr>
        <p:spPr>
          <a:xfrm>
            <a:off x="4919472" y="1915667"/>
            <a:ext cx="128016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생성 Inference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905256" y="2295144"/>
            <a:ext cx="3319272" cy="246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2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정답이 있는 원문을 사용합니다.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4892040" y="2295144"/>
            <a:ext cx="3300984" cy="246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2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방금 만든 토큰을 다시 붙입니다.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923544" y="2788920"/>
            <a:ext cx="530352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입력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923544" y="3310128"/>
            <a:ext cx="530352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8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정답</a:t>
            </a:r>
          </a:p>
        </p:txBody>
      </p:sp>
      <p:sp>
        <p:nvSpPr>
          <p:cNvPr id="17" name="Panel"/>
          <p:cNvSpPr/>
          <p:nvPr/>
        </p:nvSpPr>
        <p:spPr>
          <a:xfrm>
            <a:off x="1600200" y="2752344"/>
            <a:ext cx="694944" cy="338328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 17"/>
          <p:cNvSpPr txBox="1"/>
          <p:nvPr/>
        </p:nvSpPr>
        <p:spPr>
          <a:xfrm>
            <a:off x="1627632" y="2802636"/>
            <a:ext cx="64008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오늘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47672" y="3118104"/>
            <a:ext cx="0" cy="128016"/>
          </a:xfrm>
          <a:prstGeom prst="line">
            <a:avLst/>
          </a:prstGeom>
          <a:ln w="10160">
            <a:solidFill>
              <a:srgbClr val="56605A"/>
            </a:solidFill>
            <a:tailEnd type="triangle" w="sm" len="sm"/>
          </a:ln>
          <a:effectLst/>
        </p:spPr>
      </p:cxnSp>
      <p:sp>
        <p:nvSpPr>
          <p:cNvPr id="20" name="Panel"/>
          <p:cNvSpPr/>
          <p:nvPr/>
        </p:nvSpPr>
        <p:spPr>
          <a:xfrm>
            <a:off x="1600200" y="3291840"/>
            <a:ext cx="694944" cy="338328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20"/>
          <p:cNvSpPr txBox="1"/>
          <p:nvPr/>
        </p:nvSpPr>
        <p:spPr>
          <a:xfrm>
            <a:off x="1627632" y="3337560"/>
            <a:ext cx="640080" cy="23774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날씨가</a:t>
            </a:r>
          </a:p>
        </p:txBody>
      </p:sp>
      <p:sp>
        <p:nvSpPr>
          <p:cNvPr id="22" name="Panel"/>
          <p:cNvSpPr/>
          <p:nvPr/>
        </p:nvSpPr>
        <p:spPr>
          <a:xfrm>
            <a:off x="2414016" y="2752344"/>
            <a:ext cx="694944" cy="338328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 22"/>
          <p:cNvSpPr txBox="1"/>
          <p:nvPr/>
        </p:nvSpPr>
        <p:spPr>
          <a:xfrm>
            <a:off x="2441448" y="2802636"/>
            <a:ext cx="64008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날씨가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61488" y="3118104"/>
            <a:ext cx="0" cy="128016"/>
          </a:xfrm>
          <a:prstGeom prst="line">
            <a:avLst/>
          </a:prstGeom>
          <a:ln w="10160">
            <a:solidFill>
              <a:srgbClr val="56605A"/>
            </a:solidFill>
            <a:tailEnd type="triangle" w="sm" len="sm"/>
          </a:ln>
          <a:effectLst/>
        </p:spPr>
      </p:cxnSp>
      <p:sp>
        <p:nvSpPr>
          <p:cNvPr id="25" name="Panel"/>
          <p:cNvSpPr/>
          <p:nvPr/>
        </p:nvSpPr>
        <p:spPr>
          <a:xfrm>
            <a:off x="2414016" y="3291840"/>
            <a:ext cx="694944" cy="338328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25"/>
          <p:cNvSpPr txBox="1"/>
          <p:nvPr/>
        </p:nvSpPr>
        <p:spPr>
          <a:xfrm>
            <a:off x="2441448" y="3337560"/>
            <a:ext cx="640080" cy="23774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정말</a:t>
            </a:r>
          </a:p>
        </p:txBody>
      </p:sp>
      <p:sp>
        <p:nvSpPr>
          <p:cNvPr id="27" name="Panel"/>
          <p:cNvSpPr/>
          <p:nvPr/>
        </p:nvSpPr>
        <p:spPr>
          <a:xfrm>
            <a:off x="3227832" y="2752344"/>
            <a:ext cx="694944" cy="338328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 27"/>
          <p:cNvSpPr txBox="1"/>
          <p:nvPr/>
        </p:nvSpPr>
        <p:spPr>
          <a:xfrm>
            <a:off x="3255264" y="2802636"/>
            <a:ext cx="64008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정말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575304" y="3118104"/>
            <a:ext cx="0" cy="128016"/>
          </a:xfrm>
          <a:prstGeom prst="line">
            <a:avLst/>
          </a:prstGeom>
          <a:ln w="10160">
            <a:solidFill>
              <a:srgbClr val="56605A"/>
            </a:solidFill>
            <a:tailEnd type="triangle" w="sm" len="sm"/>
          </a:ln>
          <a:effectLst/>
        </p:spPr>
      </p:cxnSp>
      <p:sp>
        <p:nvSpPr>
          <p:cNvPr id="30" name="Panel"/>
          <p:cNvSpPr/>
          <p:nvPr/>
        </p:nvSpPr>
        <p:spPr>
          <a:xfrm>
            <a:off x="3227832" y="3291840"/>
            <a:ext cx="694944" cy="338328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 30"/>
          <p:cNvSpPr txBox="1"/>
          <p:nvPr/>
        </p:nvSpPr>
        <p:spPr>
          <a:xfrm>
            <a:off x="3255264" y="3337560"/>
            <a:ext cx="640080" cy="23774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좋네요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905256" y="3776472"/>
            <a:ext cx="3264408" cy="42062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각 위치는 앞선 토큰까지 함께 봅니다.</a:t>
            </a:r>
          </a:p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Causal mask는 미래 토큰을 가립니다.</a:t>
            </a:r>
          </a:p>
        </p:txBody>
      </p:sp>
      <p:sp>
        <p:nvSpPr>
          <p:cNvPr id="33" name="Text 32"/>
          <p:cNvSpPr txBox="1"/>
          <p:nvPr/>
        </p:nvSpPr>
        <p:spPr>
          <a:xfrm>
            <a:off x="4928616" y="2761488"/>
            <a:ext cx="1892807" cy="21031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1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오늘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76872" y="2857500"/>
            <a:ext cx="274320" cy="0"/>
          </a:xfrm>
          <a:prstGeom prst="line">
            <a:avLst/>
          </a:prstGeom>
          <a:ln w="10795">
            <a:solidFill>
              <a:srgbClr val="56605A"/>
            </a:solidFill>
            <a:tailEnd type="triangle" w="sm" len="sm"/>
          </a:ln>
          <a:effectLst/>
        </p:spPr>
      </p:cxnSp>
      <p:sp>
        <p:nvSpPr>
          <p:cNvPr id="35" name="Panel"/>
          <p:cNvSpPr/>
          <p:nvPr/>
        </p:nvSpPr>
        <p:spPr>
          <a:xfrm>
            <a:off x="7360920" y="2729484"/>
            <a:ext cx="758952" cy="301752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 35"/>
          <p:cNvSpPr txBox="1"/>
          <p:nvPr/>
        </p:nvSpPr>
        <p:spPr>
          <a:xfrm>
            <a:off x="7388352" y="2768803"/>
            <a:ext cx="704088" cy="21031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1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날씨가</a:t>
            </a:r>
          </a:p>
        </p:txBody>
      </p:sp>
      <p:sp>
        <p:nvSpPr>
          <p:cNvPr id="37" name="Text 36"/>
          <p:cNvSpPr txBox="1"/>
          <p:nvPr/>
        </p:nvSpPr>
        <p:spPr>
          <a:xfrm>
            <a:off x="4928616" y="3145536"/>
            <a:ext cx="1892807" cy="21031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1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오늘 날씨가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976872" y="3241548"/>
            <a:ext cx="274320" cy="0"/>
          </a:xfrm>
          <a:prstGeom prst="line">
            <a:avLst/>
          </a:prstGeom>
          <a:ln w="10795">
            <a:solidFill>
              <a:srgbClr val="56605A"/>
            </a:solidFill>
            <a:tailEnd type="triangle" w="sm" len="sm"/>
          </a:ln>
          <a:effectLst/>
        </p:spPr>
      </p:cxnSp>
      <p:sp>
        <p:nvSpPr>
          <p:cNvPr id="39" name="Panel"/>
          <p:cNvSpPr/>
          <p:nvPr/>
        </p:nvSpPr>
        <p:spPr>
          <a:xfrm>
            <a:off x="7360920" y="3113532"/>
            <a:ext cx="758952" cy="301752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 39"/>
          <p:cNvSpPr txBox="1"/>
          <p:nvPr/>
        </p:nvSpPr>
        <p:spPr>
          <a:xfrm>
            <a:off x="7388352" y="3152851"/>
            <a:ext cx="704088" cy="21031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1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정말</a:t>
            </a:r>
          </a:p>
        </p:txBody>
      </p:sp>
      <p:sp>
        <p:nvSpPr>
          <p:cNvPr id="41" name="Text 40"/>
          <p:cNvSpPr txBox="1"/>
          <p:nvPr/>
        </p:nvSpPr>
        <p:spPr>
          <a:xfrm>
            <a:off x="4928616" y="3529584"/>
            <a:ext cx="1892807" cy="21031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1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오늘 날씨가 정말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976872" y="3625596"/>
            <a:ext cx="274320" cy="0"/>
          </a:xfrm>
          <a:prstGeom prst="line">
            <a:avLst/>
          </a:prstGeom>
          <a:ln w="10795">
            <a:solidFill>
              <a:srgbClr val="56605A"/>
            </a:solidFill>
            <a:tailEnd type="triangle" w="sm" len="sm"/>
          </a:ln>
          <a:effectLst/>
        </p:spPr>
      </p:cxnSp>
      <p:sp>
        <p:nvSpPr>
          <p:cNvPr id="43" name="Panel"/>
          <p:cNvSpPr/>
          <p:nvPr/>
        </p:nvSpPr>
        <p:spPr>
          <a:xfrm>
            <a:off x="7360920" y="3497579"/>
            <a:ext cx="758952" cy="301752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 43"/>
          <p:cNvSpPr txBox="1"/>
          <p:nvPr/>
        </p:nvSpPr>
        <p:spPr>
          <a:xfrm>
            <a:off x="7388352" y="3536899"/>
            <a:ext cx="704088" cy="21031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1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좋네요</a:t>
            </a:r>
          </a:p>
        </p:txBody>
      </p:sp>
      <p:sp>
        <p:nvSpPr>
          <p:cNvPr id="45" name="Text 44"/>
          <p:cNvSpPr txBox="1"/>
          <p:nvPr/>
        </p:nvSpPr>
        <p:spPr>
          <a:xfrm>
            <a:off x="4892040" y="3877056"/>
            <a:ext cx="3273552" cy="21031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이전 출력이 다음 생성의 문맥에 포함됩니다.</a:t>
            </a:r>
          </a:p>
        </p:txBody>
      </p:sp>
      <p:sp>
        <p:nvSpPr>
          <p:cNvPr id="46" name="Panel"/>
          <p:cNvSpPr/>
          <p:nvPr/>
        </p:nvSpPr>
        <p:spPr>
          <a:xfrm>
            <a:off x="640080" y="4507992"/>
            <a:ext cx="32004" cy="329184"/>
          </a:xfrm>
          <a:prstGeom prst="rect">
            <a:avLst/>
          </a:prstGeom>
          <a:solidFill>
            <a:srgbClr val="00B8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 46"/>
          <p:cNvSpPr txBox="1"/>
          <p:nvPr/>
        </p:nvSpPr>
        <p:spPr>
          <a:xfrm>
            <a:off x="786384" y="4517136"/>
            <a:ext cx="7644383" cy="30175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1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학습은 정답으로 가중치를 바꾸고, 생성은 만든 토큰을 이어 붙입니다.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13_PRESERVED" descr="page_13_as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14_PRESERVED" descr="page_14_as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15_PRESERVED" descr="page_15_as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16_PRESERVED" descr="page_16_as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17_PRESERVED" descr="page_17_as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18_PRESERVED" descr="page_18_as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19_PRESERVED" descr="page_19_as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372160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384048" y="957376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sp>
        <p:nvSpPr>
          <p:cNvPr id="4" name="Slide title"/>
          <p:cNvSpPr txBox="1"/>
          <p:nvPr/>
        </p:nvSpPr>
        <p:spPr>
          <a:xfrm>
            <a:off x="640080" y="514775"/>
            <a:ext cx="7900416" cy="33832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40" b="1" dirty="0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RAG = 검색 + 답변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8613648" y="4837176"/>
            <a:ext cx="301752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4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20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658368" y="1143000"/>
            <a:ext cx="7818120" cy="3017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2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같은 RAG라도, 근거를 찾고 답변에 쓰는 세부 구성은 달라집니다.</a:t>
            </a:r>
          </a:p>
        </p:txBody>
      </p:sp>
      <p:sp>
        <p:nvSpPr>
          <p:cNvPr id="7" name="Panel"/>
          <p:cNvSpPr/>
          <p:nvPr/>
        </p:nvSpPr>
        <p:spPr>
          <a:xfrm>
            <a:off x="704088" y="1737360"/>
            <a:ext cx="950976" cy="228600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 7"/>
          <p:cNvSpPr txBox="1"/>
          <p:nvPr/>
        </p:nvSpPr>
        <p:spPr>
          <a:xfrm>
            <a:off x="749808" y="1760219"/>
            <a:ext cx="859536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19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자료 준비</a:t>
            </a:r>
          </a:p>
        </p:txBody>
      </p:sp>
      <p:sp>
        <p:nvSpPr>
          <p:cNvPr id="9" name="Panel"/>
          <p:cNvSpPr/>
          <p:nvPr/>
        </p:nvSpPr>
        <p:spPr>
          <a:xfrm>
            <a:off x="1828800" y="1755648"/>
            <a:ext cx="1481328" cy="667512"/>
          </a:xfrm>
          <a:prstGeom prst="rect">
            <a:avLst/>
          </a:prstGeom>
          <a:solidFill>
            <a:srgbClr val="F5F7F5"/>
          </a:solidFill>
          <a:ln w="8890">
            <a:solidFill>
              <a:srgbClr val="D1D8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 9"/>
          <p:cNvSpPr txBox="1"/>
          <p:nvPr/>
        </p:nvSpPr>
        <p:spPr>
          <a:xfrm>
            <a:off x="1883664" y="1856231"/>
            <a:ext cx="1371600" cy="2286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5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문서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1883664" y="2167128"/>
            <a:ext cx="1371600" cy="1645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9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원문·출처</a:t>
            </a:r>
          </a:p>
        </p:txBody>
      </p:sp>
      <p:sp>
        <p:nvSpPr>
          <p:cNvPr id="12" name="Panel"/>
          <p:cNvSpPr/>
          <p:nvPr/>
        </p:nvSpPr>
        <p:spPr>
          <a:xfrm>
            <a:off x="3785615" y="1755648"/>
            <a:ext cx="1728216" cy="667512"/>
          </a:xfrm>
          <a:prstGeom prst="rect">
            <a:avLst/>
          </a:prstGeom>
          <a:solidFill>
            <a:srgbClr val="F5F7F5"/>
          </a:solidFill>
          <a:ln w="8890">
            <a:solidFill>
              <a:srgbClr val="D1D8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 12"/>
          <p:cNvSpPr txBox="1"/>
          <p:nvPr/>
        </p:nvSpPr>
        <p:spPr>
          <a:xfrm>
            <a:off x="3840479" y="1856231"/>
            <a:ext cx="1618488" cy="2286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5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정리·분할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3840479" y="2167128"/>
            <a:ext cx="1618488" cy="1645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9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검색 가능한 형태</a:t>
            </a:r>
          </a:p>
        </p:txBody>
      </p:sp>
      <p:sp>
        <p:nvSpPr>
          <p:cNvPr id="15" name="Panel"/>
          <p:cNvSpPr/>
          <p:nvPr/>
        </p:nvSpPr>
        <p:spPr>
          <a:xfrm>
            <a:off x="5971032" y="1755648"/>
            <a:ext cx="2267712" cy="667512"/>
          </a:xfrm>
          <a:prstGeom prst="rect">
            <a:avLst/>
          </a:prstGeom>
          <a:solidFill>
            <a:srgbClr val="F5F7F5"/>
          </a:solidFill>
          <a:ln w="8890">
            <a:solidFill>
              <a:srgbClr val="D1D8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15"/>
          <p:cNvSpPr txBox="1"/>
          <p:nvPr/>
        </p:nvSpPr>
        <p:spPr>
          <a:xfrm>
            <a:off x="6025896" y="1856231"/>
            <a:ext cx="2157984" cy="2286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5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검색 환경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6025896" y="2167128"/>
            <a:ext cx="2157984" cy="1645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90" b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문서 위치·메타데이터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37560" y="2084831"/>
            <a:ext cx="384048" cy="0"/>
          </a:xfrm>
          <a:prstGeom prst="line">
            <a:avLst/>
          </a:prstGeom>
          <a:ln w="11430">
            <a:solidFill>
              <a:srgbClr val="56605A"/>
            </a:solidFill>
            <a:tailEnd type="triangle" w="sm" len="sm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5541264" y="2084831"/>
            <a:ext cx="365760" cy="0"/>
          </a:xfrm>
          <a:prstGeom prst="line">
            <a:avLst/>
          </a:prstGeom>
          <a:ln w="11430">
            <a:solidFill>
              <a:srgbClr val="56605A"/>
            </a:solidFill>
            <a:tailEnd type="triangle" w="sm" len="sm"/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7095744" y="2450592"/>
            <a:ext cx="0" cy="274320"/>
          </a:xfrm>
          <a:prstGeom prst="line">
            <a:avLst/>
          </a:prstGeom>
          <a:ln w="11430">
            <a:solidFill>
              <a:srgbClr val="00842E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 flipH="1">
            <a:off x="2889504" y="2724912"/>
            <a:ext cx="4206240" cy="0"/>
          </a:xfrm>
          <a:prstGeom prst="line">
            <a:avLst/>
          </a:prstGeom>
          <a:ln w="11430">
            <a:solidFill>
              <a:srgbClr val="00842E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2889504" y="2724912"/>
            <a:ext cx="0" cy="320040"/>
          </a:xfrm>
          <a:prstGeom prst="line">
            <a:avLst/>
          </a:prstGeom>
          <a:ln w="11430">
            <a:solidFill>
              <a:srgbClr val="00842E"/>
            </a:solidFill>
            <a:tailEnd type="triangle" w="sm" len="sm"/>
          </a:ln>
          <a:effectLst/>
        </p:spPr>
      </p:cxnSp>
      <p:sp>
        <p:nvSpPr>
          <p:cNvPr id="23" name="Text 22"/>
          <p:cNvSpPr txBox="1"/>
          <p:nvPr/>
        </p:nvSpPr>
        <p:spPr>
          <a:xfrm>
            <a:off x="3858768" y="2505456"/>
            <a:ext cx="2286000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60" b="0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근거를 찾고 본문을 읽을 때 사용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713232" y="2743200"/>
            <a:ext cx="1143000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40" b="1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질문 처리</a:t>
            </a:r>
          </a:p>
        </p:txBody>
      </p:sp>
      <p:sp>
        <p:nvSpPr>
          <p:cNvPr id="25" name="Panel"/>
          <p:cNvSpPr/>
          <p:nvPr/>
        </p:nvSpPr>
        <p:spPr>
          <a:xfrm>
            <a:off x="713232" y="3090672"/>
            <a:ext cx="950976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D1D8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25"/>
          <p:cNvSpPr txBox="1"/>
          <p:nvPr/>
        </p:nvSpPr>
        <p:spPr>
          <a:xfrm>
            <a:off x="749808" y="3209544"/>
            <a:ext cx="877824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2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질문</a:t>
            </a:r>
          </a:p>
        </p:txBody>
      </p:sp>
      <p:sp>
        <p:nvSpPr>
          <p:cNvPr id="27" name="Panel"/>
          <p:cNvSpPr/>
          <p:nvPr/>
        </p:nvSpPr>
        <p:spPr>
          <a:xfrm>
            <a:off x="2112264" y="3090672"/>
            <a:ext cx="1554480" cy="521207"/>
          </a:xfrm>
          <a:prstGeom prst="rect">
            <a:avLst/>
          </a:prstGeom>
          <a:solidFill>
            <a:srgbClr val="EFF8F0"/>
          </a:solidFill>
          <a:ln w="8890">
            <a:solidFill>
              <a:srgbClr val="0084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 27"/>
          <p:cNvSpPr txBox="1"/>
          <p:nvPr/>
        </p:nvSpPr>
        <p:spPr>
          <a:xfrm>
            <a:off x="2148840" y="3209544"/>
            <a:ext cx="1481328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2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검색·읽기</a:t>
            </a:r>
          </a:p>
        </p:txBody>
      </p:sp>
      <p:sp>
        <p:nvSpPr>
          <p:cNvPr id="29" name="Panel"/>
          <p:cNvSpPr/>
          <p:nvPr/>
        </p:nvSpPr>
        <p:spPr>
          <a:xfrm>
            <a:off x="4133087" y="3090672"/>
            <a:ext cx="14173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D1D8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 29"/>
          <p:cNvSpPr txBox="1"/>
          <p:nvPr/>
        </p:nvSpPr>
        <p:spPr>
          <a:xfrm>
            <a:off x="4169663" y="3209544"/>
            <a:ext cx="1344168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2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근거 구성</a:t>
            </a:r>
          </a:p>
        </p:txBody>
      </p:sp>
      <p:sp>
        <p:nvSpPr>
          <p:cNvPr id="31" name="Panel"/>
          <p:cNvSpPr/>
          <p:nvPr/>
        </p:nvSpPr>
        <p:spPr>
          <a:xfrm>
            <a:off x="5998464" y="3090672"/>
            <a:ext cx="97840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D1D8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 31"/>
          <p:cNvSpPr txBox="1"/>
          <p:nvPr/>
        </p:nvSpPr>
        <p:spPr>
          <a:xfrm>
            <a:off x="6035040" y="3209544"/>
            <a:ext cx="905256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2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LLM</a:t>
            </a:r>
          </a:p>
        </p:txBody>
      </p:sp>
      <p:sp>
        <p:nvSpPr>
          <p:cNvPr id="33" name="Panel"/>
          <p:cNvSpPr/>
          <p:nvPr/>
        </p:nvSpPr>
        <p:spPr>
          <a:xfrm>
            <a:off x="7443216" y="3090672"/>
            <a:ext cx="969264" cy="521207"/>
          </a:xfrm>
          <a:prstGeom prst="rect">
            <a:avLst/>
          </a:prstGeom>
          <a:solidFill>
            <a:srgbClr val="EFF8F0"/>
          </a:solidFill>
          <a:ln w="8890">
            <a:solidFill>
              <a:srgbClr val="0084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 33"/>
          <p:cNvSpPr txBox="1"/>
          <p:nvPr/>
        </p:nvSpPr>
        <p:spPr>
          <a:xfrm>
            <a:off x="7479792" y="3209544"/>
            <a:ext cx="896112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2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답변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691640" y="3346704"/>
            <a:ext cx="356616" cy="0"/>
          </a:xfrm>
          <a:prstGeom prst="line">
            <a:avLst/>
          </a:prstGeom>
          <a:ln w="11430">
            <a:solidFill>
              <a:srgbClr val="56605A"/>
            </a:solidFill>
            <a:tailEnd type="triangle" w="sm" len="sm"/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3694176" y="3346704"/>
            <a:ext cx="374904" cy="0"/>
          </a:xfrm>
          <a:prstGeom prst="line">
            <a:avLst/>
          </a:prstGeom>
          <a:ln w="11430">
            <a:solidFill>
              <a:srgbClr val="56605A"/>
            </a:solidFill>
            <a:tailEnd type="triangle" w="sm" len="sm"/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5577840" y="3346704"/>
            <a:ext cx="356616" cy="0"/>
          </a:xfrm>
          <a:prstGeom prst="line">
            <a:avLst/>
          </a:prstGeom>
          <a:ln w="11430">
            <a:solidFill>
              <a:srgbClr val="56605A"/>
            </a:solidFill>
            <a:tailEnd type="triangle" w="sm" len="sm"/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7004304" y="3346704"/>
            <a:ext cx="374904" cy="0"/>
          </a:xfrm>
          <a:prstGeom prst="line">
            <a:avLst/>
          </a:prstGeom>
          <a:ln w="11430">
            <a:solidFill>
              <a:srgbClr val="56605A"/>
            </a:solidFill>
            <a:tailEnd type="triangle" w="sm" len="sm"/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722376" y="3867912"/>
            <a:ext cx="3694176" cy="0"/>
          </a:xfrm>
          <a:prstGeom prst="line">
            <a:avLst/>
          </a:prstGeom>
          <a:ln w="8890">
            <a:solidFill>
              <a:srgbClr val="D1D8D3"/>
            </a:solidFill>
          </a:ln>
          <a:effectLst/>
        </p:spPr>
      </p:cxnSp>
      <p:sp>
        <p:nvSpPr>
          <p:cNvPr id="40" name="Text 39"/>
          <p:cNvSpPr txBox="1"/>
          <p:nvPr/>
        </p:nvSpPr>
        <p:spPr>
          <a:xfrm>
            <a:off x="722376" y="3986784"/>
            <a:ext cx="731520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Search</a:t>
            </a:r>
          </a:p>
        </p:txBody>
      </p:sp>
      <p:sp>
        <p:nvSpPr>
          <p:cNvPr id="41" name="Text 40"/>
          <p:cNvSpPr txBox="1"/>
          <p:nvPr/>
        </p:nvSpPr>
        <p:spPr>
          <a:xfrm>
            <a:off x="1499616" y="3986784"/>
            <a:ext cx="2926080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2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필요한 근거를 가져왔나요?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681728" y="3867912"/>
            <a:ext cx="3694176" cy="0"/>
          </a:xfrm>
          <a:prstGeom prst="line">
            <a:avLst/>
          </a:prstGeom>
          <a:ln w="8890">
            <a:solidFill>
              <a:srgbClr val="D1D8D3"/>
            </a:solidFill>
          </a:ln>
          <a:effectLst/>
        </p:spPr>
      </p:cxnSp>
      <p:sp>
        <p:nvSpPr>
          <p:cNvPr id="43" name="Text 42"/>
          <p:cNvSpPr txBox="1"/>
          <p:nvPr/>
        </p:nvSpPr>
        <p:spPr>
          <a:xfrm>
            <a:off x="4681728" y="3986784"/>
            <a:ext cx="731520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30" b="1">
                <a:solidFill>
                  <a:srgbClr val="00842E"/>
                </a:solidFill>
                <a:latin typeface="Gothic A1"/>
                <a:ea typeface="Gothic A1"/>
                <a:cs typeface="Gothic A1"/>
              </a:rPr>
              <a:t>Answer</a:t>
            </a:r>
          </a:p>
        </p:txBody>
      </p:sp>
      <p:sp>
        <p:nvSpPr>
          <p:cNvPr id="44" name="Text 43"/>
          <p:cNvSpPr txBox="1"/>
          <p:nvPr/>
        </p:nvSpPr>
        <p:spPr>
          <a:xfrm>
            <a:off x="5458968" y="3986784"/>
            <a:ext cx="2926080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20" b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그 근거를 적절하게 사용했나요?</a:t>
            </a:r>
          </a:p>
        </p:txBody>
      </p:sp>
      <p:sp>
        <p:nvSpPr>
          <p:cNvPr id="45" name="Panel"/>
          <p:cNvSpPr/>
          <p:nvPr/>
        </p:nvSpPr>
        <p:spPr>
          <a:xfrm>
            <a:off x="640080" y="4507992"/>
            <a:ext cx="32004" cy="329184"/>
          </a:xfrm>
          <a:prstGeom prst="rect">
            <a:avLst/>
          </a:prstGeom>
          <a:solidFill>
            <a:srgbClr val="00B8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 45"/>
          <p:cNvSpPr txBox="1"/>
          <p:nvPr/>
        </p:nvSpPr>
        <p:spPr>
          <a:xfrm>
            <a:off x="786384" y="4517136"/>
            <a:ext cx="7644383" cy="30175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30" b="1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방법론 이름보다, 근거가 어느 단계까지 전달됐는지 먼저 확인합니다.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25D3EFF8-BF2D-B997-A876-2119C2ED2771}"/>
              </a:ext>
            </a:extLst>
          </p:cNvPr>
          <p:cNvSpPr txBox="1"/>
          <p:nvPr/>
        </p:nvSpPr>
        <p:spPr>
          <a:xfrm>
            <a:off x="704088" y="170992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8716A"/>
                </a:solidFill>
                <a:latin typeface="Noto Sans CJK KR"/>
                <a:ea typeface="Noto Sans CJK KR"/>
              </a:rPr>
              <a:t>문서 검색</a:t>
            </a:r>
          </a:p>
        </p:txBody>
      </p:sp>
      <p:sp>
        <p:nvSpPr>
          <p:cNvPr id="36" name="Rectangle 7">
            <a:extLst>
              <a:ext uri="{FF2B5EF4-FFF2-40B4-BE49-F238E27FC236}">
                <a16:creationId xmlns:a16="http://schemas.microsoft.com/office/drawing/2014/main" id="{030249F0-06C1-AD6C-0BE5-CB4131A83040}"/>
              </a:ext>
            </a:extLst>
          </p:cNvPr>
          <p:cNvSpPr/>
          <p:nvPr/>
        </p:nvSpPr>
        <p:spPr>
          <a:xfrm>
            <a:off x="1847088" y="1627632"/>
            <a:ext cx="1078992" cy="457200"/>
          </a:xfrm>
          <a:prstGeom prst="rect">
            <a:avLst/>
          </a:prstGeom>
          <a:solidFill>
            <a:srgbClr val="F5F7F5"/>
          </a:solidFill>
          <a:ln w="9525">
            <a:solidFill>
              <a:srgbClr val="C9D1C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B58E35-F194-D38A-6BB4-96B0EC611B03}"/>
              </a:ext>
            </a:extLst>
          </p:cNvPr>
          <p:cNvSpPr txBox="1"/>
          <p:nvPr/>
        </p:nvSpPr>
        <p:spPr>
          <a:xfrm>
            <a:off x="1892807" y="1755648"/>
            <a:ext cx="987551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1713"/>
                </a:solidFill>
                <a:latin typeface="Noto Sans CJK KR"/>
                <a:ea typeface="Noto Sans CJK KR"/>
              </a:rPr>
              <a:t>질문</a:t>
            </a:r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0487ED80-25DA-30EF-826A-D39DBBE7362D}"/>
              </a:ext>
            </a:extLst>
          </p:cNvPr>
          <p:cNvSpPr/>
          <p:nvPr/>
        </p:nvSpPr>
        <p:spPr>
          <a:xfrm>
            <a:off x="3675887" y="1627632"/>
            <a:ext cx="1188720" cy="457200"/>
          </a:xfrm>
          <a:prstGeom prst="rect">
            <a:avLst/>
          </a:prstGeom>
          <a:solidFill>
            <a:srgbClr val="F5F7F5"/>
          </a:solidFill>
          <a:ln w="9525">
            <a:solidFill>
              <a:srgbClr val="C9D1C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350643-9297-4F79-30A2-A32EF88C6857}"/>
              </a:ext>
            </a:extLst>
          </p:cNvPr>
          <p:cNvSpPr txBox="1"/>
          <p:nvPr/>
        </p:nvSpPr>
        <p:spPr>
          <a:xfrm>
            <a:off x="3721607" y="1755648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1713"/>
                </a:solidFill>
                <a:latin typeface="Noto Sans CJK KR"/>
                <a:ea typeface="Noto Sans CJK KR"/>
              </a:rPr>
              <a:t>검색</a:t>
            </a:r>
          </a:p>
        </p:txBody>
      </p:sp>
      <p:sp>
        <p:nvSpPr>
          <p:cNvPr id="40" name="Rectangle 11">
            <a:extLst>
              <a:ext uri="{FF2B5EF4-FFF2-40B4-BE49-F238E27FC236}">
                <a16:creationId xmlns:a16="http://schemas.microsoft.com/office/drawing/2014/main" id="{6BEFA0BF-FE61-0869-E0F8-F7A82F9971AD}"/>
              </a:ext>
            </a:extLst>
          </p:cNvPr>
          <p:cNvSpPr/>
          <p:nvPr/>
        </p:nvSpPr>
        <p:spPr>
          <a:xfrm>
            <a:off x="5769864" y="1627632"/>
            <a:ext cx="2194560" cy="457200"/>
          </a:xfrm>
          <a:prstGeom prst="rect">
            <a:avLst/>
          </a:prstGeom>
          <a:solidFill>
            <a:srgbClr val="F5F7F5"/>
          </a:solidFill>
          <a:ln w="9525">
            <a:solidFill>
              <a:srgbClr val="C9D1C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870FFC-8113-DDF8-E9BF-0FBE66326BE7}"/>
              </a:ext>
            </a:extLst>
          </p:cNvPr>
          <p:cNvSpPr txBox="1"/>
          <p:nvPr/>
        </p:nvSpPr>
        <p:spPr>
          <a:xfrm>
            <a:off x="5815583" y="1755648"/>
            <a:ext cx="210312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1713"/>
                </a:solidFill>
                <a:latin typeface="Noto Sans CJK KR"/>
                <a:ea typeface="Noto Sans CJK KR"/>
              </a:rPr>
              <a:t>관련 문서 목록</a:t>
            </a:r>
          </a:p>
        </p:txBody>
      </p:sp>
      <p:cxnSp>
        <p:nvCxnSpPr>
          <p:cNvPr id="42" name="Connector 13">
            <a:extLst>
              <a:ext uri="{FF2B5EF4-FFF2-40B4-BE49-F238E27FC236}">
                <a16:creationId xmlns:a16="http://schemas.microsoft.com/office/drawing/2014/main" id="{4EA8D1BB-BA86-A60A-F4A9-56FF7EBBA494}"/>
              </a:ext>
            </a:extLst>
          </p:cNvPr>
          <p:cNvCxnSpPr/>
          <p:nvPr/>
        </p:nvCxnSpPr>
        <p:spPr>
          <a:xfrm>
            <a:off x="3017520" y="1856231"/>
            <a:ext cx="530352" cy="0"/>
          </a:xfrm>
          <a:prstGeom prst="line">
            <a:avLst/>
          </a:prstGeom>
          <a:ln w="12700">
            <a:solidFill>
              <a:srgbClr val="68716A"/>
            </a:solidFill>
            <a:tailEnd type="triangle" w="sm" len="sm"/>
          </a:ln>
          <a:effectLst/>
        </p:spPr>
      </p:cxnSp>
      <p:cxnSp>
        <p:nvCxnSpPr>
          <p:cNvPr id="43" name="Connector 14">
            <a:extLst>
              <a:ext uri="{FF2B5EF4-FFF2-40B4-BE49-F238E27FC236}">
                <a16:creationId xmlns:a16="http://schemas.microsoft.com/office/drawing/2014/main" id="{EECD4D15-FD4A-3160-6DD1-F2092C9E95DB}"/>
              </a:ext>
            </a:extLst>
          </p:cNvPr>
          <p:cNvCxnSpPr/>
          <p:nvPr/>
        </p:nvCxnSpPr>
        <p:spPr>
          <a:xfrm>
            <a:off x="4965192" y="1856231"/>
            <a:ext cx="667512" cy="0"/>
          </a:xfrm>
          <a:prstGeom prst="line">
            <a:avLst/>
          </a:prstGeom>
          <a:ln w="12700">
            <a:solidFill>
              <a:srgbClr val="68716A"/>
            </a:solidFill>
            <a:tailEnd type="triangle" w="sm" len="sm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7EDB584-9082-2B51-E97C-C2665D1E72E9}"/>
              </a:ext>
            </a:extLst>
          </p:cNvPr>
          <p:cNvSpPr txBox="1"/>
          <p:nvPr/>
        </p:nvSpPr>
        <p:spPr>
          <a:xfrm>
            <a:off x="5797296" y="2194560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16A"/>
                </a:solidFill>
                <a:latin typeface="Noto Sans CJK KR"/>
                <a:ea typeface="Noto Sans CJK KR"/>
              </a:rPr>
              <a:t>사람이 결과를 읽고 판단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2FDF6E-5CEF-DB77-B664-0A5AC0EC9D4A}"/>
              </a:ext>
            </a:extLst>
          </p:cNvPr>
          <p:cNvSpPr txBox="1"/>
          <p:nvPr/>
        </p:nvSpPr>
        <p:spPr>
          <a:xfrm>
            <a:off x="704088" y="2688336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8843"/>
                </a:solidFill>
                <a:latin typeface="Noto Sans CJK KR"/>
                <a:ea typeface="Noto Sans CJK KR"/>
              </a:rPr>
              <a:t>기본 RAG</a:t>
            </a:r>
          </a:p>
        </p:txBody>
      </p:sp>
      <p:sp>
        <p:nvSpPr>
          <p:cNvPr id="46" name="Rectangle 17">
            <a:extLst>
              <a:ext uri="{FF2B5EF4-FFF2-40B4-BE49-F238E27FC236}">
                <a16:creationId xmlns:a16="http://schemas.microsoft.com/office/drawing/2014/main" id="{2D9AE39A-D803-49EA-F654-C514F86E4694}"/>
              </a:ext>
            </a:extLst>
          </p:cNvPr>
          <p:cNvSpPr/>
          <p:nvPr/>
        </p:nvSpPr>
        <p:spPr>
          <a:xfrm>
            <a:off x="1847088" y="2578608"/>
            <a:ext cx="713232" cy="457200"/>
          </a:xfrm>
          <a:prstGeom prst="rect">
            <a:avLst/>
          </a:prstGeom>
          <a:solidFill>
            <a:srgbClr val="F5F7F5"/>
          </a:solidFill>
          <a:ln w="9525">
            <a:solidFill>
              <a:srgbClr val="C9D1C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92482E-2505-CC4E-A8A5-AAF138F30157}"/>
              </a:ext>
            </a:extLst>
          </p:cNvPr>
          <p:cNvSpPr txBox="1"/>
          <p:nvPr/>
        </p:nvSpPr>
        <p:spPr>
          <a:xfrm>
            <a:off x="1892807" y="2706624"/>
            <a:ext cx="621792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1713"/>
                </a:solidFill>
                <a:latin typeface="Noto Sans CJK KR"/>
                <a:ea typeface="Noto Sans CJK KR"/>
              </a:rPr>
              <a:t>질문</a:t>
            </a:r>
          </a:p>
        </p:txBody>
      </p:sp>
      <p:sp>
        <p:nvSpPr>
          <p:cNvPr id="48" name="Rectangle 19">
            <a:extLst>
              <a:ext uri="{FF2B5EF4-FFF2-40B4-BE49-F238E27FC236}">
                <a16:creationId xmlns:a16="http://schemas.microsoft.com/office/drawing/2014/main" id="{286A0EC8-8E90-2C9A-8AF9-2B49E929B093}"/>
              </a:ext>
            </a:extLst>
          </p:cNvPr>
          <p:cNvSpPr/>
          <p:nvPr/>
        </p:nvSpPr>
        <p:spPr>
          <a:xfrm>
            <a:off x="2871216" y="2578608"/>
            <a:ext cx="1463040" cy="457200"/>
          </a:xfrm>
          <a:prstGeom prst="rect">
            <a:avLst/>
          </a:prstGeom>
          <a:solidFill>
            <a:srgbClr val="EFF8F0"/>
          </a:solidFill>
          <a:ln w="9525">
            <a:solidFill>
              <a:srgbClr val="12884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2F0A72-F24C-3E1F-01F0-2A6D612BB95C}"/>
              </a:ext>
            </a:extLst>
          </p:cNvPr>
          <p:cNvSpPr txBox="1"/>
          <p:nvPr/>
        </p:nvSpPr>
        <p:spPr>
          <a:xfrm>
            <a:off x="2916936" y="2706624"/>
            <a:ext cx="137160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28843"/>
                </a:solidFill>
                <a:latin typeface="Noto Sans CJK KR"/>
                <a:ea typeface="Noto Sans CJK KR"/>
              </a:rPr>
              <a:t>검색·본문 읽기</a:t>
            </a:r>
          </a:p>
        </p:txBody>
      </p:sp>
      <p:sp>
        <p:nvSpPr>
          <p:cNvPr id="50" name="Rectangle 21">
            <a:extLst>
              <a:ext uri="{FF2B5EF4-FFF2-40B4-BE49-F238E27FC236}">
                <a16:creationId xmlns:a16="http://schemas.microsoft.com/office/drawing/2014/main" id="{F2D7B193-D929-4873-A49E-3D083C1A1FD0}"/>
              </a:ext>
            </a:extLst>
          </p:cNvPr>
          <p:cNvSpPr/>
          <p:nvPr/>
        </p:nvSpPr>
        <p:spPr>
          <a:xfrm>
            <a:off x="4645152" y="2578608"/>
            <a:ext cx="1161288" cy="457200"/>
          </a:xfrm>
          <a:prstGeom prst="rect">
            <a:avLst/>
          </a:prstGeom>
          <a:solidFill>
            <a:srgbClr val="F5F7F5"/>
          </a:solidFill>
          <a:ln w="9525">
            <a:solidFill>
              <a:srgbClr val="C9D1C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121253-B42F-7657-5E07-77FAE0B47F47}"/>
              </a:ext>
            </a:extLst>
          </p:cNvPr>
          <p:cNvSpPr txBox="1"/>
          <p:nvPr/>
        </p:nvSpPr>
        <p:spPr>
          <a:xfrm>
            <a:off x="4690872" y="2706624"/>
            <a:ext cx="1069848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1713"/>
                </a:solidFill>
                <a:latin typeface="Noto Sans CJK KR"/>
                <a:ea typeface="Noto Sans CJK KR"/>
              </a:rPr>
              <a:t>근거 구성</a:t>
            </a:r>
          </a:p>
        </p:txBody>
      </p:sp>
      <p:sp>
        <p:nvSpPr>
          <p:cNvPr id="52" name="Rectangle 23">
            <a:extLst>
              <a:ext uri="{FF2B5EF4-FFF2-40B4-BE49-F238E27FC236}">
                <a16:creationId xmlns:a16="http://schemas.microsoft.com/office/drawing/2014/main" id="{94CF6C0C-5DAA-A74D-B307-D39169245745}"/>
              </a:ext>
            </a:extLst>
          </p:cNvPr>
          <p:cNvSpPr/>
          <p:nvPr/>
        </p:nvSpPr>
        <p:spPr>
          <a:xfrm>
            <a:off x="6126480" y="2578608"/>
            <a:ext cx="786384" cy="457200"/>
          </a:xfrm>
          <a:prstGeom prst="rect">
            <a:avLst/>
          </a:prstGeom>
          <a:solidFill>
            <a:srgbClr val="F5F7F5"/>
          </a:solidFill>
          <a:ln w="9525">
            <a:solidFill>
              <a:srgbClr val="C9D1C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288C9A-6435-4746-CC9B-C95B42961402}"/>
              </a:ext>
            </a:extLst>
          </p:cNvPr>
          <p:cNvSpPr txBox="1"/>
          <p:nvPr/>
        </p:nvSpPr>
        <p:spPr>
          <a:xfrm>
            <a:off x="6172200" y="2706624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1713"/>
                </a:solidFill>
                <a:latin typeface="Noto Sans CJK KR"/>
                <a:ea typeface="Noto Sans CJK KR"/>
              </a:rPr>
              <a:t>LLM</a:t>
            </a:r>
          </a:p>
        </p:txBody>
      </p:sp>
      <p:sp>
        <p:nvSpPr>
          <p:cNvPr id="54" name="Rectangle 25">
            <a:extLst>
              <a:ext uri="{FF2B5EF4-FFF2-40B4-BE49-F238E27FC236}">
                <a16:creationId xmlns:a16="http://schemas.microsoft.com/office/drawing/2014/main" id="{D26FA6D5-8D7E-E8E4-A105-FA29BD724D07}"/>
              </a:ext>
            </a:extLst>
          </p:cNvPr>
          <p:cNvSpPr/>
          <p:nvPr/>
        </p:nvSpPr>
        <p:spPr>
          <a:xfrm>
            <a:off x="7223760" y="2578608"/>
            <a:ext cx="1225296" cy="457200"/>
          </a:xfrm>
          <a:prstGeom prst="rect">
            <a:avLst/>
          </a:prstGeom>
          <a:solidFill>
            <a:srgbClr val="EFF8F0"/>
          </a:solidFill>
          <a:ln w="9525">
            <a:solidFill>
              <a:srgbClr val="12884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0DCD430-C287-6190-A13F-F964B22F2DE1}"/>
              </a:ext>
            </a:extLst>
          </p:cNvPr>
          <p:cNvSpPr txBox="1"/>
          <p:nvPr/>
        </p:nvSpPr>
        <p:spPr>
          <a:xfrm>
            <a:off x="7269480" y="2706624"/>
            <a:ext cx="1133856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28843"/>
                </a:solidFill>
                <a:latin typeface="Noto Sans CJK KR"/>
                <a:ea typeface="Noto Sans CJK KR"/>
              </a:rPr>
              <a:t>답변·출처</a:t>
            </a:r>
          </a:p>
        </p:txBody>
      </p:sp>
      <p:cxnSp>
        <p:nvCxnSpPr>
          <p:cNvPr id="56" name="Connector 27">
            <a:extLst>
              <a:ext uri="{FF2B5EF4-FFF2-40B4-BE49-F238E27FC236}">
                <a16:creationId xmlns:a16="http://schemas.microsoft.com/office/drawing/2014/main" id="{F3AE6A9D-CB99-A9B3-4C60-8F2CF9F18C24}"/>
              </a:ext>
            </a:extLst>
          </p:cNvPr>
          <p:cNvCxnSpPr/>
          <p:nvPr/>
        </p:nvCxnSpPr>
        <p:spPr>
          <a:xfrm>
            <a:off x="2615184" y="2807208"/>
            <a:ext cx="192024" cy="0"/>
          </a:xfrm>
          <a:prstGeom prst="line">
            <a:avLst/>
          </a:prstGeom>
          <a:ln w="11430">
            <a:solidFill>
              <a:srgbClr val="68716A"/>
            </a:solidFill>
            <a:tailEnd type="triangle" w="sm" len="sm"/>
          </a:ln>
          <a:effectLst/>
        </p:spPr>
      </p:cxnSp>
      <p:cxnSp>
        <p:nvCxnSpPr>
          <p:cNvPr id="57" name="Connector 28">
            <a:extLst>
              <a:ext uri="{FF2B5EF4-FFF2-40B4-BE49-F238E27FC236}">
                <a16:creationId xmlns:a16="http://schemas.microsoft.com/office/drawing/2014/main" id="{7A51BF3B-01E9-54E8-7698-C2F7DD0CBFF3}"/>
              </a:ext>
            </a:extLst>
          </p:cNvPr>
          <p:cNvCxnSpPr/>
          <p:nvPr/>
        </p:nvCxnSpPr>
        <p:spPr>
          <a:xfrm>
            <a:off x="4389120" y="2807208"/>
            <a:ext cx="192024" cy="0"/>
          </a:xfrm>
          <a:prstGeom prst="line">
            <a:avLst/>
          </a:prstGeom>
          <a:ln w="11430">
            <a:solidFill>
              <a:srgbClr val="68716A"/>
            </a:solidFill>
            <a:tailEnd type="triangle" w="sm" len="sm"/>
          </a:ln>
          <a:effectLst/>
        </p:spPr>
      </p:cxnSp>
      <p:cxnSp>
        <p:nvCxnSpPr>
          <p:cNvPr id="58" name="Connector 29">
            <a:extLst>
              <a:ext uri="{FF2B5EF4-FFF2-40B4-BE49-F238E27FC236}">
                <a16:creationId xmlns:a16="http://schemas.microsoft.com/office/drawing/2014/main" id="{865FBA40-492A-0400-FFD5-BAE03846024C}"/>
              </a:ext>
            </a:extLst>
          </p:cNvPr>
          <p:cNvCxnSpPr/>
          <p:nvPr/>
        </p:nvCxnSpPr>
        <p:spPr>
          <a:xfrm>
            <a:off x="5861303" y="2807208"/>
            <a:ext cx="201169" cy="0"/>
          </a:xfrm>
          <a:prstGeom prst="line">
            <a:avLst/>
          </a:prstGeom>
          <a:ln w="11430">
            <a:solidFill>
              <a:srgbClr val="68716A"/>
            </a:solidFill>
            <a:tailEnd type="triangle" w="sm" len="sm"/>
          </a:ln>
          <a:effectLst/>
        </p:spPr>
      </p:cxnSp>
      <p:cxnSp>
        <p:nvCxnSpPr>
          <p:cNvPr id="59" name="Connector 30">
            <a:extLst>
              <a:ext uri="{FF2B5EF4-FFF2-40B4-BE49-F238E27FC236}">
                <a16:creationId xmlns:a16="http://schemas.microsoft.com/office/drawing/2014/main" id="{C05BEE70-4A07-873D-542C-161B0112221C}"/>
              </a:ext>
            </a:extLst>
          </p:cNvPr>
          <p:cNvCxnSpPr/>
          <p:nvPr/>
        </p:nvCxnSpPr>
        <p:spPr>
          <a:xfrm>
            <a:off x="6967728" y="2807208"/>
            <a:ext cx="192024" cy="0"/>
          </a:xfrm>
          <a:prstGeom prst="line">
            <a:avLst/>
          </a:prstGeom>
          <a:ln w="11430">
            <a:solidFill>
              <a:srgbClr val="68716A"/>
            </a:solidFill>
            <a:tailEnd type="triangle" w="sm" len="sm"/>
          </a:ln>
          <a:effectLst/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EFF1BF1-A105-89FC-8123-699690FF4B43}"/>
              </a:ext>
            </a:extLst>
          </p:cNvPr>
          <p:cNvSpPr txBox="1"/>
          <p:nvPr/>
        </p:nvSpPr>
        <p:spPr>
          <a:xfrm>
            <a:off x="1847088" y="3182112"/>
            <a:ext cx="6510528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dirty="0" err="1">
                <a:solidFill>
                  <a:srgbClr val="68716A"/>
                </a:solidFill>
                <a:latin typeface="Noto Sans CJK KR"/>
                <a:ea typeface="Noto Sans CJK KR"/>
              </a:rPr>
              <a:t>전문</a:t>
            </a:r>
            <a:r>
              <a:rPr sz="1030" b="0" dirty="0">
                <a:solidFill>
                  <a:srgbClr val="68716A"/>
                </a:solidFill>
                <a:latin typeface="Noto Sans CJK KR"/>
                <a:ea typeface="Noto Sans CJK KR"/>
              </a:rPr>
              <a:t> </a:t>
            </a:r>
            <a:r>
              <a:rPr sz="1030" b="0" dirty="0" err="1">
                <a:solidFill>
                  <a:srgbClr val="68716A"/>
                </a:solidFill>
                <a:latin typeface="Noto Sans CJK KR"/>
                <a:ea typeface="Noto Sans CJK KR"/>
              </a:rPr>
              <a:t>검색</a:t>
            </a:r>
            <a:r>
              <a:rPr lang="en-US" altLang="ko-KR" sz="1030" b="0" dirty="0">
                <a:solidFill>
                  <a:srgbClr val="68716A"/>
                </a:solidFill>
                <a:latin typeface="Noto Sans CJK KR"/>
                <a:ea typeface="Noto Sans CJK KR"/>
              </a:rPr>
              <a:t>(</a:t>
            </a:r>
            <a:r>
              <a:rPr lang="en-US" altLang="ko-KR" sz="1030" dirty="0">
                <a:solidFill>
                  <a:srgbClr val="68716A"/>
                </a:solidFill>
                <a:latin typeface="Noto Sans CJK KR"/>
                <a:ea typeface="Noto Sans CJK KR"/>
              </a:rPr>
              <a:t>FTS)</a:t>
            </a:r>
            <a:r>
              <a:rPr sz="1030" b="0" dirty="0" err="1">
                <a:solidFill>
                  <a:srgbClr val="68716A"/>
                </a:solidFill>
                <a:latin typeface="Noto Sans CJK KR"/>
                <a:ea typeface="Noto Sans CJK KR"/>
              </a:rPr>
              <a:t>도</a:t>
            </a:r>
            <a:r>
              <a:rPr sz="1030" b="0" dirty="0">
                <a:solidFill>
                  <a:srgbClr val="68716A"/>
                </a:solidFill>
                <a:latin typeface="Noto Sans CJK KR"/>
                <a:ea typeface="Noto Sans CJK KR"/>
              </a:rPr>
              <a:t> </a:t>
            </a:r>
            <a:r>
              <a:rPr sz="1030" b="0" dirty="0" err="1">
                <a:solidFill>
                  <a:srgbClr val="68716A"/>
                </a:solidFill>
                <a:latin typeface="Noto Sans CJK KR"/>
                <a:ea typeface="Noto Sans CJK KR"/>
              </a:rPr>
              <a:t>선택지</a:t>
            </a:r>
            <a:r>
              <a:rPr lang="en-US" altLang="ko-KR" sz="1030" b="0" dirty="0">
                <a:solidFill>
                  <a:srgbClr val="68716A"/>
                </a:solidFill>
                <a:latin typeface="Noto Sans CJK KR"/>
                <a:ea typeface="Noto Sans CJK KR"/>
              </a:rPr>
              <a:t>.</a:t>
            </a:r>
            <a:endParaRPr sz="1030" b="0" dirty="0">
              <a:solidFill>
                <a:srgbClr val="68716A"/>
              </a:solidFill>
              <a:latin typeface="Noto Sans CJK KR"/>
              <a:ea typeface="Noto Sans CJK KR"/>
            </a:endParaRPr>
          </a:p>
        </p:txBody>
      </p:sp>
      <p:sp>
        <p:nvSpPr>
          <p:cNvPr id="61" name="Rectangle 32">
            <a:extLst>
              <a:ext uri="{FF2B5EF4-FFF2-40B4-BE49-F238E27FC236}">
                <a16:creationId xmlns:a16="http://schemas.microsoft.com/office/drawing/2014/main" id="{FE472106-BB5A-A566-4503-4F8360CC6AC3}"/>
              </a:ext>
            </a:extLst>
          </p:cNvPr>
          <p:cNvSpPr/>
          <p:nvPr/>
        </p:nvSpPr>
        <p:spPr>
          <a:xfrm>
            <a:off x="704088" y="3602736"/>
            <a:ext cx="7744968" cy="557784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1DCFDB1-BEA9-D302-0AEE-A27893F59115}"/>
              </a:ext>
            </a:extLst>
          </p:cNvPr>
          <p:cNvSpPr txBox="1"/>
          <p:nvPr/>
        </p:nvSpPr>
        <p:spPr>
          <a:xfrm>
            <a:off x="850392" y="370332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dirty="0" err="1">
                <a:solidFill>
                  <a:srgbClr val="128843"/>
                </a:solidFill>
                <a:latin typeface="Noto Sans CJK KR"/>
                <a:ea typeface="Noto Sans CJK KR"/>
              </a:rPr>
              <a:t>예시</a:t>
            </a:r>
            <a:endParaRPr sz="950" b="1" dirty="0">
              <a:solidFill>
                <a:srgbClr val="128843"/>
              </a:solidFill>
              <a:latin typeface="Noto Sans CJK KR"/>
              <a:ea typeface="Noto Sans CJK K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6661C7-C71F-DA85-5942-4E3F4E298920}"/>
              </a:ext>
            </a:extLst>
          </p:cNvPr>
          <p:cNvSpPr txBox="1"/>
          <p:nvPr/>
        </p:nvSpPr>
        <p:spPr>
          <a:xfrm>
            <a:off x="1938528" y="3703320"/>
            <a:ext cx="6236208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dirty="0">
                <a:solidFill>
                  <a:srgbClr val="131713"/>
                </a:solidFill>
                <a:latin typeface="+mj-lt"/>
                <a:ea typeface="Noto Sans CJK KR"/>
              </a:rPr>
              <a:t>A</a:t>
            </a:r>
            <a:r>
              <a:rPr lang="ko-KR" altLang="en-US" sz="1110" b="0" dirty="0">
                <a:solidFill>
                  <a:srgbClr val="131713"/>
                </a:solidFill>
                <a:latin typeface="+mj-lt"/>
                <a:ea typeface="Noto Sans CJK KR"/>
              </a:rPr>
              <a:t>문서의</a:t>
            </a:r>
            <a:r>
              <a:rPr sz="1110" b="0" dirty="0">
                <a:solidFill>
                  <a:srgbClr val="131713"/>
                </a:solidFill>
                <a:latin typeface="+mj-lt"/>
                <a:ea typeface="Noto Sans CJK KR"/>
              </a:rPr>
              <a:t> v2.1 </a:t>
            </a:r>
            <a:r>
              <a:rPr sz="1110" b="0" dirty="0" err="1">
                <a:solidFill>
                  <a:srgbClr val="131713"/>
                </a:solidFill>
                <a:latin typeface="+mj-lt"/>
                <a:ea typeface="Noto Sans CJK KR"/>
              </a:rPr>
              <a:t>외부</a:t>
            </a:r>
            <a:r>
              <a:rPr sz="1110" b="0" dirty="0">
                <a:solidFill>
                  <a:srgbClr val="131713"/>
                </a:solidFill>
                <a:latin typeface="+mj-lt"/>
                <a:ea typeface="Noto Sans CJK KR"/>
              </a:rPr>
              <a:t> </a:t>
            </a:r>
            <a:r>
              <a:rPr sz="1110" b="0" dirty="0" err="1">
                <a:solidFill>
                  <a:srgbClr val="131713"/>
                </a:solidFill>
                <a:latin typeface="+mj-lt"/>
                <a:ea typeface="Noto Sans CJK KR"/>
              </a:rPr>
              <a:t>공유</a:t>
            </a:r>
            <a:r>
              <a:rPr sz="1110" b="0" dirty="0">
                <a:solidFill>
                  <a:srgbClr val="131713"/>
                </a:solidFill>
                <a:latin typeface="+mj-lt"/>
                <a:ea typeface="Noto Sans CJK KR"/>
              </a:rPr>
              <a:t>?  →  </a:t>
            </a:r>
            <a:r>
              <a:rPr sz="1110" b="0" dirty="0" err="1">
                <a:solidFill>
                  <a:srgbClr val="131713"/>
                </a:solidFill>
                <a:latin typeface="+mj-lt"/>
                <a:ea typeface="Noto Sans CJK KR"/>
              </a:rPr>
              <a:t>원문</a:t>
            </a:r>
            <a:r>
              <a:rPr sz="1110" b="0" dirty="0">
                <a:solidFill>
                  <a:srgbClr val="131713"/>
                </a:solidFill>
                <a:latin typeface="+mj-lt"/>
                <a:ea typeface="Noto Sans CJK KR"/>
              </a:rPr>
              <a:t> </a:t>
            </a:r>
            <a:r>
              <a:rPr sz="1110" b="0" dirty="0" err="1">
                <a:solidFill>
                  <a:srgbClr val="131713"/>
                </a:solidFill>
                <a:latin typeface="+mj-lt"/>
                <a:ea typeface="Noto Sans CJK KR"/>
              </a:rPr>
              <a:t>확인</a:t>
            </a:r>
            <a:r>
              <a:rPr sz="1110" b="0" dirty="0">
                <a:solidFill>
                  <a:srgbClr val="131713"/>
                </a:solidFill>
                <a:latin typeface="+mj-lt"/>
                <a:ea typeface="Noto Sans CJK KR"/>
              </a:rPr>
              <a:t>  →  “</a:t>
            </a:r>
            <a:r>
              <a:rPr sz="1110" b="0" dirty="0" err="1">
                <a:solidFill>
                  <a:srgbClr val="131713"/>
                </a:solidFill>
                <a:latin typeface="+mj-lt"/>
                <a:ea typeface="Noto Sans CJK KR"/>
              </a:rPr>
              <a:t>문서상</a:t>
            </a:r>
            <a:r>
              <a:rPr sz="1110" b="0" dirty="0">
                <a:solidFill>
                  <a:srgbClr val="131713"/>
                </a:solidFill>
                <a:latin typeface="+mj-lt"/>
                <a:ea typeface="Noto Sans CJK KR"/>
              </a:rPr>
              <a:t> </a:t>
            </a:r>
            <a:r>
              <a:rPr sz="1110" b="0" dirty="0" err="1">
                <a:solidFill>
                  <a:srgbClr val="131713"/>
                </a:solidFill>
                <a:latin typeface="+mj-lt"/>
                <a:ea typeface="Noto Sans CJK KR"/>
              </a:rPr>
              <a:t>미지원입니다</a:t>
            </a:r>
            <a:r>
              <a:rPr sz="1110" b="0" dirty="0">
                <a:solidFill>
                  <a:srgbClr val="131713"/>
                </a:solidFill>
                <a:latin typeface="+mj-lt"/>
                <a:ea typeface="Noto Sans CJK KR"/>
              </a:rPr>
              <a:t>.” [E1]</a:t>
            </a:r>
          </a:p>
        </p:txBody>
      </p:sp>
      <p:cxnSp>
        <p:nvCxnSpPr>
          <p:cNvPr id="64" name="Connector 35">
            <a:extLst>
              <a:ext uri="{FF2B5EF4-FFF2-40B4-BE49-F238E27FC236}">
                <a16:creationId xmlns:a16="http://schemas.microsoft.com/office/drawing/2014/main" id="{3A3CB78C-FA0A-AB28-68A7-FB2FF3982711}"/>
              </a:ext>
            </a:extLst>
          </p:cNvPr>
          <p:cNvCxnSpPr/>
          <p:nvPr/>
        </p:nvCxnSpPr>
        <p:spPr>
          <a:xfrm>
            <a:off x="658368" y="4379976"/>
            <a:ext cx="7827264" cy="0"/>
          </a:xfrm>
          <a:prstGeom prst="line">
            <a:avLst/>
          </a:prstGeom>
          <a:ln w="8890">
            <a:solidFill>
              <a:srgbClr val="C9D1CA"/>
            </a:solidFill>
          </a:ln>
          <a:effectLst/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98A3AB8-6D71-0D09-8E54-BC6317EB7AD2}"/>
              </a:ext>
            </a:extLst>
          </p:cNvPr>
          <p:cNvSpPr txBox="1"/>
          <p:nvPr/>
        </p:nvSpPr>
        <p:spPr>
          <a:xfrm>
            <a:off x="786384" y="4517136"/>
            <a:ext cx="7653527" cy="3017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131713"/>
                </a:solidFill>
                <a:latin typeface="Noto Sans CJK KR"/>
                <a:ea typeface="Noto Sans CJK KR"/>
              </a:rPr>
              <a:t>이 질문에서 다음 행동을 매번 모델이 결정해야 할까요?</a:t>
            </a:r>
          </a:p>
        </p:txBody>
      </p:sp>
      <p:cxnSp>
        <p:nvCxnSpPr>
          <p:cNvPr id="66" name="Connector 1">
            <a:extLst>
              <a:ext uri="{FF2B5EF4-FFF2-40B4-BE49-F238E27FC236}">
                <a16:creationId xmlns:a16="http://schemas.microsoft.com/office/drawing/2014/main" id="{B0BCE8A4-D2AE-582C-D588-0B13789D68A5}"/>
              </a:ext>
            </a:extLst>
          </p:cNvPr>
          <p:cNvCxnSpPr/>
          <p:nvPr/>
        </p:nvCxnSpPr>
        <p:spPr>
          <a:xfrm>
            <a:off x="384048" y="372160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cxnSp>
        <p:nvCxnSpPr>
          <p:cNvPr id="67" name="Connector 2">
            <a:extLst>
              <a:ext uri="{FF2B5EF4-FFF2-40B4-BE49-F238E27FC236}">
                <a16:creationId xmlns:a16="http://schemas.microsoft.com/office/drawing/2014/main" id="{2C5071B3-06A6-A0E0-B11D-D2FAC719FDC8}"/>
              </a:ext>
            </a:extLst>
          </p:cNvPr>
          <p:cNvCxnSpPr/>
          <p:nvPr/>
        </p:nvCxnSpPr>
        <p:spPr>
          <a:xfrm>
            <a:off x="384048" y="957376"/>
            <a:ext cx="8375904" cy="0"/>
          </a:xfrm>
          <a:prstGeom prst="line">
            <a:avLst/>
          </a:prstGeom>
          <a:ln w="10160">
            <a:solidFill>
              <a:srgbClr val="343A35"/>
            </a:solidFill>
          </a:ln>
          <a:effectLst/>
        </p:spPr>
      </p:cxnSp>
      <p:sp>
        <p:nvSpPr>
          <p:cNvPr id="68" name="Slide title">
            <a:extLst>
              <a:ext uri="{FF2B5EF4-FFF2-40B4-BE49-F238E27FC236}">
                <a16:creationId xmlns:a16="http://schemas.microsoft.com/office/drawing/2014/main" id="{F8E20E10-01C5-157D-F5A1-4D2ED00858FB}"/>
              </a:ext>
            </a:extLst>
          </p:cNvPr>
          <p:cNvSpPr txBox="1"/>
          <p:nvPr/>
        </p:nvSpPr>
        <p:spPr>
          <a:xfrm>
            <a:off x="640080" y="548640"/>
            <a:ext cx="7900416" cy="33832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140" b="1" dirty="0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RAG = </a:t>
            </a:r>
            <a:r>
              <a:rPr lang="ko-KR" altLang="en-US" sz="2140" b="1" dirty="0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검색 </a:t>
            </a:r>
            <a:r>
              <a:rPr lang="en-US" altLang="ko-KR" sz="2140" b="1" dirty="0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+</a:t>
            </a:r>
            <a:r>
              <a:rPr lang="ko-KR" altLang="en-US" sz="2140" b="1" dirty="0">
                <a:solidFill>
                  <a:srgbClr val="171A18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답변</a:t>
            </a:r>
            <a:endParaRPr lang="ko-KR" sz="2140" b="1" dirty="0">
              <a:solidFill>
                <a:srgbClr val="171A18"/>
              </a:solidFill>
              <a:latin typeface="Gothic A1 ExtraBold" pitchFamily="2" charset="-127"/>
              <a:ea typeface="Gothic A1 ExtraBold" pitchFamily="2" charset="-127"/>
              <a:cs typeface="Gothic A1 ExtraBold" pitchFamily="2" charset="-127"/>
            </a:endParaRPr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AB49DF71-CA9A-A2E9-AE05-FF5CFC8307D3}"/>
              </a:ext>
            </a:extLst>
          </p:cNvPr>
          <p:cNvSpPr txBox="1"/>
          <p:nvPr/>
        </p:nvSpPr>
        <p:spPr>
          <a:xfrm>
            <a:off x="658368" y="1143000"/>
            <a:ext cx="7818120" cy="3017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20" b="1" dirty="0">
                <a:solidFill>
                  <a:srgbClr val="171A18"/>
                </a:solidFill>
                <a:latin typeface="Gothic A1"/>
                <a:ea typeface="Gothic A1"/>
                <a:cs typeface="Gothic A1"/>
              </a:rPr>
              <a:t>검색이 잘못됐나요, 찾은 자료를 잘못 사용했나요?</a:t>
            </a:r>
          </a:p>
        </p:txBody>
      </p:sp>
      <p:sp>
        <p:nvSpPr>
          <p:cNvPr id="70" name="Page number">
            <a:extLst>
              <a:ext uri="{FF2B5EF4-FFF2-40B4-BE49-F238E27FC236}">
                <a16:creationId xmlns:a16="http://schemas.microsoft.com/office/drawing/2014/main" id="{2EDFC733-FE6A-733A-2F07-A535DB8111E2}"/>
              </a:ext>
            </a:extLst>
          </p:cNvPr>
          <p:cNvSpPr txBox="1"/>
          <p:nvPr/>
        </p:nvSpPr>
        <p:spPr>
          <a:xfrm>
            <a:off x="8613648" y="4837176"/>
            <a:ext cx="301752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40" b="0" dirty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2</a:t>
            </a:r>
            <a:r>
              <a:rPr lang="en-US" altLang="ko-KR" sz="940" b="0" dirty="0">
                <a:solidFill>
                  <a:srgbClr val="56605A"/>
                </a:solidFill>
                <a:latin typeface="Gothic A1"/>
                <a:ea typeface="Gothic A1"/>
                <a:cs typeface="Gothic A1"/>
              </a:rPr>
              <a:t>1</a:t>
            </a:r>
            <a:endParaRPr lang="ko-KR" sz="940" b="0" dirty="0">
              <a:solidFill>
                <a:srgbClr val="56605A"/>
              </a:solidFill>
              <a:latin typeface="Gothic A1"/>
              <a:ea typeface="Gothic A1"/>
              <a:cs typeface="Gothic A1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22_PRESERVED" descr="page_22_as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23_PRESERVED" descr="page_23_as_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372160"/>
            <a:ext cx="8375904" cy="0"/>
          </a:xfrm>
          <a:prstGeom prst="line">
            <a:avLst/>
          </a:prstGeom>
          <a:ln w="10795">
            <a:solidFill>
              <a:srgbClr val="131713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384048" y="957376"/>
            <a:ext cx="8375904" cy="0"/>
          </a:xfrm>
          <a:prstGeom prst="line">
            <a:avLst/>
          </a:prstGeom>
          <a:ln w="8890">
            <a:solidFill>
              <a:srgbClr val="131713"/>
            </a:solidFill>
          </a:ln>
          <a:effectLst/>
        </p:spPr>
      </p:cxnSp>
      <p:sp>
        <p:nvSpPr>
          <p:cNvPr id="4" name="Slide title"/>
          <p:cNvSpPr txBox="1"/>
          <p:nvPr/>
        </p:nvSpPr>
        <p:spPr>
          <a:xfrm>
            <a:off x="640080" y="516797"/>
            <a:ext cx="790956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dirty="0" err="1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검색</a:t>
            </a:r>
            <a:r>
              <a:rPr sz="2100" b="1" dirty="0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</a:t>
            </a:r>
            <a:r>
              <a:rPr sz="2100" b="1" dirty="0" err="1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기술을</a:t>
            </a:r>
            <a:r>
              <a:rPr sz="2100" b="1" dirty="0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</a:t>
            </a:r>
            <a:r>
              <a:rPr sz="2100" b="1" dirty="0" err="1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고르기</a:t>
            </a:r>
            <a:r>
              <a:rPr sz="2100" b="1" dirty="0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</a:t>
            </a:r>
            <a:r>
              <a:rPr sz="2100" b="1" dirty="0" err="1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전에</a:t>
            </a:r>
            <a:r>
              <a:rPr sz="2100" b="1" dirty="0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</a:t>
            </a:r>
            <a:r>
              <a:rPr sz="2100" b="1" dirty="0" err="1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확인</a:t>
            </a:r>
            <a:endParaRPr sz="2100" b="1" dirty="0">
              <a:solidFill>
                <a:srgbClr val="131713"/>
              </a:solidFill>
              <a:latin typeface="Gothic A1 ExtraBold" pitchFamily="2" charset="-127"/>
              <a:ea typeface="Gothic A1 ExtraBold" pitchFamily="2" charset="-127"/>
              <a:cs typeface="Gothic A1 ExtraBold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78638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dirty="0" err="1">
                <a:solidFill>
                  <a:srgbClr val="131713"/>
                </a:solidFill>
                <a:latin typeface="Noto Sans CJK KR"/>
                <a:ea typeface="Noto Sans CJK KR"/>
              </a:rPr>
              <a:t>최신성·자료·질문·성능·운영</a:t>
            </a:r>
            <a:r>
              <a:rPr sz="1320" b="0" dirty="0">
                <a:solidFill>
                  <a:srgbClr val="131713"/>
                </a:solidFill>
                <a:latin typeface="Noto Sans CJK KR"/>
                <a:ea typeface="Noto Sans CJK KR"/>
              </a:rPr>
              <a:t> </a:t>
            </a:r>
            <a:r>
              <a:rPr sz="1320" b="0" dirty="0" err="1">
                <a:solidFill>
                  <a:srgbClr val="131713"/>
                </a:solidFill>
                <a:latin typeface="Noto Sans CJK KR"/>
                <a:ea typeface="Noto Sans CJK KR"/>
              </a:rPr>
              <a:t>조건부터</a:t>
            </a:r>
            <a:r>
              <a:rPr sz="1320" b="0" dirty="0">
                <a:solidFill>
                  <a:srgbClr val="131713"/>
                </a:solidFill>
                <a:latin typeface="Noto Sans CJK KR"/>
                <a:ea typeface="Noto Sans CJK KR"/>
              </a:rPr>
              <a:t> </a:t>
            </a:r>
            <a:r>
              <a:rPr sz="1320" b="0" dirty="0" err="1">
                <a:solidFill>
                  <a:srgbClr val="131713"/>
                </a:solidFill>
                <a:latin typeface="Noto Sans CJK KR"/>
                <a:ea typeface="Noto Sans CJK KR"/>
              </a:rPr>
              <a:t>확인합니다</a:t>
            </a:r>
            <a:r>
              <a:rPr sz="1320" b="0" dirty="0">
                <a:solidFill>
                  <a:srgbClr val="131713"/>
                </a:solidFill>
                <a:latin typeface="Noto Sans CJK KR"/>
                <a:ea typeface="Noto Sans CJK K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5" y="1568196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68716A"/>
                </a:solidFill>
                <a:latin typeface="Noto Sans CJK KR"/>
                <a:ea typeface="Noto Sans CJK KR"/>
              </a:rPr>
              <a:t>판단 차원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39" y="1568196"/>
            <a:ext cx="5129784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68716A"/>
                </a:solidFill>
                <a:latin typeface="Noto Sans CJK KR"/>
                <a:ea typeface="Noto Sans CJK KR"/>
              </a:rPr>
              <a:t>우리 업무에서 답할 질문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3" y="1860804"/>
            <a:ext cx="7744968" cy="393192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39" y="1952244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128843"/>
                </a:solidFill>
                <a:latin typeface="Noto Sans CJK KR"/>
                <a:ea typeface="Noto Sans CJK K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929384"/>
            <a:ext cx="1746504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31713"/>
                </a:solidFill>
                <a:latin typeface="Noto Sans CJK KR"/>
                <a:ea typeface="Noto Sans CJK KR"/>
              </a:rPr>
              <a:t>데이터 최신성 요구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1933956"/>
            <a:ext cx="509320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31713"/>
                </a:solidFill>
                <a:latin typeface="Noto Sans CJK KR"/>
                <a:ea typeface="Noto Sans CJK KR"/>
              </a:rPr>
              <a:t>바뀐 정보가 언제부터 답변에 반영되어야 하나요?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3" y="2290572"/>
            <a:ext cx="7744968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39" y="2382012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128843"/>
                </a:solidFill>
                <a:latin typeface="Noto Sans CJK KR"/>
                <a:ea typeface="Noto Sans CJK K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1" y="2359152"/>
            <a:ext cx="1746504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31713"/>
                </a:solidFill>
                <a:latin typeface="Noto Sans CJK KR"/>
                <a:ea typeface="Noto Sans CJK KR"/>
              </a:rPr>
              <a:t>자료 집합 특성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39" y="2363724"/>
            <a:ext cx="509320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31713"/>
                </a:solidFill>
                <a:latin typeface="Noto Sans CJK KR"/>
                <a:ea typeface="Noto Sans CJK KR"/>
              </a:rPr>
              <a:t>자주 바뀌거나 자주 읽히는 자료는 무엇인가요?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3" y="2720340"/>
            <a:ext cx="7744968" cy="393192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39" y="2811780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128843"/>
                </a:solidFill>
                <a:latin typeface="Noto Sans CJK KR"/>
                <a:ea typeface="Noto Sans CJK K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2788920"/>
            <a:ext cx="1746504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31713"/>
                </a:solidFill>
                <a:latin typeface="Noto Sans CJK KR"/>
                <a:ea typeface="Noto Sans CJK KR"/>
              </a:rPr>
              <a:t>질문 패턴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39" y="2793492"/>
            <a:ext cx="509320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31713"/>
                </a:solidFill>
                <a:latin typeface="Noto Sans CJK KR"/>
                <a:ea typeface="Noto Sans CJK KR"/>
              </a:rPr>
              <a:t>식별자 조회인가요, 자연어 탐색인가요, 자료 비교인가요?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3" y="3150108"/>
            <a:ext cx="7744968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39" y="3241548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128843"/>
                </a:solidFill>
                <a:latin typeface="Noto Sans CJK KR"/>
                <a:ea typeface="Noto Sans CJK KR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1" y="3218688"/>
            <a:ext cx="1746504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31713"/>
                </a:solidFill>
                <a:latin typeface="Noto Sans CJK KR"/>
                <a:ea typeface="Noto Sans CJK KR"/>
              </a:rPr>
              <a:t>규모와 성능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39" y="3223260"/>
            <a:ext cx="509320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31713"/>
                </a:solidFill>
                <a:latin typeface="Noto Sans CJK KR"/>
                <a:ea typeface="Noto Sans CJK KR"/>
              </a:rPr>
              <a:t>요청량·동시 처리·응답 시간의 요구조건은 무엇인가요?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3" y="3579876"/>
            <a:ext cx="7744968" cy="393192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39" y="3671315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128843"/>
                </a:solidFill>
                <a:latin typeface="Noto Sans CJK KR"/>
                <a:ea typeface="Noto Sans CJK KR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1" y="3648456"/>
            <a:ext cx="1746504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31713"/>
                </a:solidFill>
                <a:latin typeface="Noto Sans CJK KR"/>
                <a:ea typeface="Noto Sans CJK KR"/>
              </a:rPr>
              <a:t>팀 역량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39" y="3653028"/>
            <a:ext cx="509320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31713"/>
                </a:solidFill>
                <a:latin typeface="Noto Sans CJK KR"/>
                <a:ea typeface="Noto Sans CJK KR"/>
              </a:rPr>
              <a:t>누가 구축하고, 장애를 확인하고, 계속 유지하나요?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4248048"/>
            <a:ext cx="7827264" cy="0"/>
          </a:xfrm>
          <a:prstGeom prst="line">
            <a:avLst/>
          </a:prstGeom>
          <a:ln w="8890">
            <a:solidFill>
              <a:srgbClr val="C9D1CA"/>
            </a:solidFill>
          </a:ln>
          <a:effectLst/>
        </p:spPr>
      </p:cxnSp>
      <p:sp>
        <p:nvSpPr>
          <p:cNvPr id="30" name="Rectangle 29"/>
          <p:cNvSpPr/>
          <p:nvPr/>
        </p:nvSpPr>
        <p:spPr>
          <a:xfrm>
            <a:off x="658368" y="4443984"/>
            <a:ext cx="32004" cy="292608"/>
          </a:xfrm>
          <a:prstGeom prst="rect">
            <a:avLst/>
          </a:prstGeom>
          <a:solidFill>
            <a:srgbClr val="1288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" y="4443984"/>
            <a:ext cx="7653527" cy="3017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dirty="0" err="1">
                <a:solidFill>
                  <a:srgbClr val="131713"/>
                </a:solidFill>
                <a:latin typeface="Noto Sans CJK KR"/>
                <a:ea typeface="Noto Sans CJK KR"/>
              </a:rPr>
              <a:t>어떤</a:t>
            </a:r>
            <a:r>
              <a:rPr sz="1260" b="1" dirty="0">
                <a:solidFill>
                  <a:srgbClr val="131713"/>
                </a:solidFill>
                <a:latin typeface="Noto Sans CJK KR"/>
                <a:ea typeface="Noto Sans CJK KR"/>
              </a:rPr>
              <a:t> </a:t>
            </a:r>
            <a:r>
              <a:rPr sz="1260" b="1" dirty="0" err="1">
                <a:solidFill>
                  <a:srgbClr val="131713"/>
                </a:solidFill>
                <a:latin typeface="Noto Sans CJK KR"/>
                <a:ea typeface="Noto Sans CJK KR"/>
              </a:rPr>
              <a:t>기술이</a:t>
            </a:r>
            <a:r>
              <a:rPr lang="en-US" sz="1260" b="1" dirty="0">
                <a:solidFill>
                  <a:srgbClr val="131713"/>
                </a:solidFill>
                <a:latin typeface="Noto Sans CJK KR"/>
                <a:ea typeface="Noto Sans CJK KR"/>
              </a:rPr>
              <a:t>, </a:t>
            </a:r>
            <a:r>
              <a:rPr sz="1260" b="1" dirty="0" err="1">
                <a:solidFill>
                  <a:srgbClr val="131713"/>
                </a:solidFill>
                <a:latin typeface="Noto Sans CJK KR"/>
                <a:ea typeface="Noto Sans CJK KR"/>
              </a:rPr>
              <a:t>어떤</a:t>
            </a:r>
            <a:r>
              <a:rPr sz="1260" b="1" dirty="0">
                <a:solidFill>
                  <a:srgbClr val="131713"/>
                </a:solidFill>
                <a:latin typeface="Noto Sans CJK KR"/>
                <a:ea typeface="Noto Sans CJK KR"/>
              </a:rPr>
              <a:t> </a:t>
            </a:r>
            <a:r>
              <a:rPr sz="1260" b="1" dirty="0" err="1">
                <a:solidFill>
                  <a:srgbClr val="131713"/>
                </a:solidFill>
                <a:latin typeface="Noto Sans CJK KR"/>
                <a:ea typeface="Noto Sans CJK KR"/>
              </a:rPr>
              <a:t>질문을</a:t>
            </a:r>
            <a:r>
              <a:rPr sz="1260" b="1" dirty="0">
                <a:solidFill>
                  <a:srgbClr val="131713"/>
                </a:solidFill>
                <a:latin typeface="Noto Sans CJK KR"/>
                <a:ea typeface="Noto Sans CJK KR"/>
              </a:rPr>
              <a:t> </a:t>
            </a:r>
            <a:r>
              <a:rPr sz="1260" b="1" dirty="0" err="1">
                <a:solidFill>
                  <a:srgbClr val="131713"/>
                </a:solidFill>
                <a:latin typeface="Noto Sans CJK KR"/>
                <a:ea typeface="Noto Sans CJK KR"/>
              </a:rPr>
              <a:t>처리해야</a:t>
            </a:r>
            <a:r>
              <a:rPr sz="1260" b="1" dirty="0">
                <a:solidFill>
                  <a:srgbClr val="131713"/>
                </a:solidFill>
                <a:latin typeface="Noto Sans CJK KR"/>
                <a:ea typeface="Noto Sans CJK KR"/>
              </a:rPr>
              <a:t> </a:t>
            </a:r>
            <a:r>
              <a:rPr sz="1260" b="1" dirty="0" err="1">
                <a:solidFill>
                  <a:srgbClr val="131713"/>
                </a:solidFill>
                <a:latin typeface="Noto Sans CJK KR"/>
                <a:ea typeface="Noto Sans CJK KR"/>
              </a:rPr>
              <a:t>하는지</a:t>
            </a:r>
            <a:r>
              <a:rPr sz="1260" b="1" dirty="0">
                <a:solidFill>
                  <a:srgbClr val="131713"/>
                </a:solidFill>
                <a:latin typeface="Noto Sans CJK KR"/>
                <a:ea typeface="Noto Sans CJK KR"/>
              </a:rPr>
              <a:t> </a:t>
            </a:r>
            <a:r>
              <a:rPr sz="1260" b="1" dirty="0" err="1">
                <a:solidFill>
                  <a:srgbClr val="131713"/>
                </a:solidFill>
                <a:latin typeface="Noto Sans CJK KR"/>
                <a:ea typeface="Noto Sans CJK KR"/>
              </a:rPr>
              <a:t>먼저</a:t>
            </a:r>
            <a:r>
              <a:rPr sz="1260" b="1" dirty="0">
                <a:solidFill>
                  <a:srgbClr val="131713"/>
                </a:solidFill>
                <a:latin typeface="Noto Sans CJK KR"/>
                <a:ea typeface="Noto Sans CJK KR"/>
              </a:rPr>
              <a:t> </a:t>
            </a:r>
            <a:r>
              <a:rPr sz="1260" b="1" dirty="0" err="1">
                <a:solidFill>
                  <a:srgbClr val="131713"/>
                </a:solidFill>
                <a:latin typeface="Noto Sans CJK KR"/>
                <a:ea typeface="Noto Sans CJK KR"/>
              </a:rPr>
              <a:t>확인합니다</a:t>
            </a:r>
            <a:r>
              <a:rPr sz="1260" b="1" dirty="0">
                <a:solidFill>
                  <a:srgbClr val="131713"/>
                </a:solidFill>
                <a:latin typeface="Noto Sans CJK KR"/>
                <a:ea typeface="Noto Sans CJK KR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372160"/>
            <a:ext cx="8375904" cy="0"/>
          </a:xfrm>
          <a:prstGeom prst="line">
            <a:avLst/>
          </a:prstGeom>
          <a:ln w="10795">
            <a:solidFill>
              <a:srgbClr val="131713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384048" y="957376"/>
            <a:ext cx="8375904" cy="0"/>
          </a:xfrm>
          <a:prstGeom prst="line">
            <a:avLst/>
          </a:prstGeom>
          <a:ln w="8890">
            <a:solidFill>
              <a:srgbClr val="131713"/>
            </a:solidFill>
          </a:ln>
          <a:effectLst/>
        </p:spPr>
      </p:cxnSp>
      <p:sp>
        <p:nvSpPr>
          <p:cNvPr id="4" name="Slide title"/>
          <p:cNvSpPr txBox="1"/>
          <p:nvPr/>
        </p:nvSpPr>
        <p:spPr>
          <a:xfrm>
            <a:off x="640080" y="507696"/>
            <a:ext cx="790956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dirty="0" err="1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복잡성을</a:t>
            </a:r>
            <a:r>
              <a:rPr sz="2100" b="1" dirty="0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</a:t>
            </a:r>
            <a:r>
              <a:rPr sz="2100" b="1" dirty="0" err="1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늘리기</a:t>
            </a:r>
            <a:r>
              <a:rPr sz="2100" b="1" dirty="0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</a:t>
            </a:r>
            <a:r>
              <a:rPr sz="2100" b="1" dirty="0" err="1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전에</a:t>
            </a:r>
            <a:r>
              <a:rPr sz="2100" b="1" dirty="0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</a:t>
            </a:r>
            <a:r>
              <a:rPr sz="2100" b="1" dirty="0" err="1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실패</a:t>
            </a:r>
            <a:r>
              <a:rPr sz="2100" b="1" dirty="0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</a:t>
            </a:r>
            <a:r>
              <a:rPr sz="2100" b="1" dirty="0" err="1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위치를</a:t>
            </a:r>
            <a:r>
              <a:rPr sz="2100" b="1" dirty="0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</a:t>
            </a:r>
            <a:r>
              <a:rPr sz="2100" b="1" dirty="0" err="1">
                <a:solidFill>
                  <a:srgbClr val="131713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확인합니다</a:t>
            </a:r>
            <a:endParaRPr sz="2100" b="1" dirty="0">
              <a:solidFill>
                <a:srgbClr val="131713"/>
              </a:solidFill>
              <a:latin typeface="Gothic A1 ExtraBold" pitchFamily="2" charset="-127"/>
              <a:ea typeface="Gothic A1 ExtraBold" pitchFamily="2" charset="-127"/>
              <a:cs typeface="Gothic A1 ExtraBold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6424" y="1287933"/>
            <a:ext cx="2944368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68716A"/>
                </a:solidFill>
                <a:latin typeface="Noto Sans CJK KR"/>
                <a:ea typeface="Noto Sans CJK KR"/>
              </a:rPr>
              <a:t>관찰한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287933"/>
            <a:ext cx="411480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68716A"/>
                </a:solidFill>
                <a:latin typeface="Noto Sans CJK KR"/>
                <a:ea typeface="Noto Sans CJK KR"/>
              </a:rPr>
              <a:t>다음으로 비교할 변경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4984" y="1562253"/>
            <a:ext cx="7744968" cy="331927"/>
          </a:xfrm>
          <a:prstGeom prst="rect">
            <a:avLst/>
          </a:prstGeom>
          <a:solidFill>
            <a:srgbClr val="EF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621689"/>
            <a:ext cx="2926080" cy="2240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28843"/>
                </a:solidFill>
                <a:latin typeface="Noto Sans CJK KR"/>
                <a:ea typeface="Noto Sans CJK KR"/>
              </a:rPr>
              <a:t>필요한 근거로 적절하게 답함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1625346"/>
            <a:ext cx="146304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28843"/>
                </a:solidFill>
                <a:latin typeface="Noto Sans CJK KR"/>
                <a:ea typeface="Noto Sans CJK K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6" y="1621689"/>
            <a:ext cx="4315968" cy="2240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31713"/>
                </a:solidFill>
                <a:latin typeface="Noto Sans CJK KR"/>
                <a:ea typeface="Noto Sans CJK KR"/>
              </a:rPr>
              <a:t>현재 구성을 유지하고 검증 질문을 늘립니다.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" y="1914296"/>
            <a:ext cx="7744968" cy="3319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1973732"/>
            <a:ext cx="2926080" cy="2240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131713"/>
                </a:solidFill>
                <a:latin typeface="Noto Sans CJK KR"/>
                <a:ea typeface="Noto Sans CJK KR"/>
              </a:rPr>
              <a:t>표현이 달라 필요한 문서를 놓침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1977390"/>
            <a:ext cx="146304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28843"/>
                </a:solidFill>
                <a:latin typeface="Noto Sans CJK KR"/>
                <a:ea typeface="Noto Sans CJK K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1973732"/>
            <a:ext cx="4315968" cy="2240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31713"/>
                </a:solidFill>
                <a:latin typeface="Noto Sans CJK KR"/>
                <a:ea typeface="Noto Sans CJK KR"/>
              </a:rPr>
              <a:t>질의 재작성·용어 대응·의미 검색을 비교합니다.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4984" y="2266341"/>
            <a:ext cx="7744968" cy="331927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4712" y="2325777"/>
            <a:ext cx="2926080" cy="2240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131713"/>
                </a:solidFill>
                <a:latin typeface="Noto Sans CJK KR"/>
                <a:ea typeface="Noto Sans CJK KR"/>
              </a:rPr>
              <a:t>다른 대상이나 버전의 문서가 섞임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48" y="2329434"/>
            <a:ext cx="146304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28843"/>
                </a:solidFill>
                <a:latin typeface="Noto Sans CJK KR"/>
                <a:ea typeface="Noto Sans CJK K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2325777"/>
            <a:ext cx="4315968" cy="2240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31713"/>
                </a:solidFill>
                <a:latin typeface="Noto Sans CJK KR"/>
                <a:ea typeface="Noto Sans CJK KR"/>
              </a:rPr>
              <a:t>검색 조건·범위·원문 메타데이터를 확인합니다.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" y="2618385"/>
            <a:ext cx="7744968" cy="3319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" y="2677821"/>
            <a:ext cx="2926080" cy="2240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131713"/>
                </a:solidFill>
                <a:latin typeface="Noto Sans CJK KR"/>
                <a:ea typeface="Noto Sans CJK KR"/>
              </a:rPr>
              <a:t>두 문서가 필요한데 하나만 읽음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1648" y="2681478"/>
            <a:ext cx="146304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28843"/>
                </a:solidFill>
                <a:latin typeface="Noto Sans CJK KR"/>
                <a:ea typeface="Noto Sans CJK KR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6" y="2677821"/>
            <a:ext cx="4315968" cy="2240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31713"/>
                </a:solidFill>
                <a:latin typeface="Noto Sans CJK KR"/>
                <a:ea typeface="Noto Sans CJK KR"/>
              </a:rPr>
              <a:t>고정 다중 조회와 추가 탐색을 비교합니다.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" y="2970429"/>
            <a:ext cx="7744968" cy="331927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24712" y="3029865"/>
            <a:ext cx="2926080" cy="2240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131713"/>
                </a:solidFill>
                <a:latin typeface="Noto Sans CJK KR"/>
                <a:ea typeface="Noto Sans CJK KR"/>
              </a:rPr>
              <a:t>올바른 근거가 있는데 답변이 틀림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1648" y="3033522"/>
            <a:ext cx="146304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28843"/>
                </a:solidFill>
                <a:latin typeface="Noto Sans CJK KR"/>
                <a:ea typeface="Noto Sans CJK KR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6" y="3029865"/>
            <a:ext cx="4315968" cy="2240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31713"/>
                </a:solidFill>
                <a:latin typeface="Noto Sans CJK KR"/>
                <a:ea typeface="Noto Sans CJK KR"/>
              </a:rPr>
              <a:t>Context 구성·답변 지시·검증을 점검합니다.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7479" y="3485236"/>
            <a:ext cx="7744968" cy="3319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24712" y="3381909"/>
            <a:ext cx="2926080" cy="2240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131713"/>
                </a:solidFill>
                <a:latin typeface="Noto Sans CJK KR"/>
                <a:ea typeface="Noto Sans CJK KR"/>
              </a:rPr>
              <a:t>원문이나 처리된 자료에 근거가 없음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1648" y="3385566"/>
            <a:ext cx="146304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28843"/>
                </a:solidFill>
                <a:latin typeface="Noto Sans CJK KR"/>
                <a:ea typeface="Noto Sans CJK KR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6" y="3381909"/>
            <a:ext cx="4315968" cy="2240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31713"/>
                </a:solidFill>
                <a:latin typeface="Noto Sans CJK KR"/>
                <a:ea typeface="Noto Sans CJK KR"/>
              </a:rPr>
              <a:t>자료 확보·처리 복구 또는 확인 불가를 안내합니다.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191" y="3855568"/>
            <a:ext cx="7479792" cy="1737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dirty="0" err="1">
                <a:solidFill>
                  <a:srgbClr val="68716A"/>
                </a:solidFill>
                <a:latin typeface="Noto Sans CJK KR"/>
                <a:ea typeface="Noto Sans CJK KR"/>
              </a:rPr>
              <a:t>여러</a:t>
            </a:r>
            <a:r>
              <a:rPr sz="990" b="0" dirty="0">
                <a:solidFill>
                  <a:srgbClr val="68716A"/>
                </a:solidFill>
                <a:latin typeface="Noto Sans CJK KR"/>
                <a:ea typeface="Noto Sans CJK KR"/>
              </a:rPr>
              <a:t> </a:t>
            </a:r>
            <a:r>
              <a:rPr sz="990" b="0" dirty="0" err="1">
                <a:solidFill>
                  <a:srgbClr val="68716A"/>
                </a:solidFill>
                <a:latin typeface="Noto Sans CJK KR"/>
                <a:ea typeface="Noto Sans CJK KR"/>
              </a:rPr>
              <a:t>문서를</a:t>
            </a:r>
            <a:r>
              <a:rPr sz="990" b="0" dirty="0">
                <a:solidFill>
                  <a:srgbClr val="68716A"/>
                </a:solidFill>
                <a:latin typeface="Noto Sans CJK KR"/>
                <a:ea typeface="Noto Sans CJK KR"/>
              </a:rPr>
              <a:t> </a:t>
            </a:r>
            <a:r>
              <a:rPr sz="990" b="0" dirty="0" err="1">
                <a:solidFill>
                  <a:srgbClr val="68716A"/>
                </a:solidFill>
                <a:latin typeface="Noto Sans CJK KR"/>
                <a:ea typeface="Noto Sans CJK KR"/>
              </a:rPr>
              <a:t>읽는다고</a:t>
            </a:r>
            <a:r>
              <a:rPr sz="990" b="0" dirty="0">
                <a:solidFill>
                  <a:srgbClr val="68716A"/>
                </a:solidFill>
                <a:latin typeface="Noto Sans CJK KR"/>
                <a:ea typeface="Noto Sans CJK KR"/>
              </a:rPr>
              <a:t> </a:t>
            </a:r>
            <a:r>
              <a:rPr sz="990" b="0" dirty="0" err="1">
                <a:solidFill>
                  <a:srgbClr val="68716A"/>
                </a:solidFill>
                <a:latin typeface="Noto Sans CJK KR"/>
                <a:ea typeface="Noto Sans CJK KR"/>
              </a:rPr>
              <a:t>반드시</a:t>
            </a:r>
            <a:r>
              <a:rPr sz="990" b="0" dirty="0">
                <a:solidFill>
                  <a:srgbClr val="68716A"/>
                </a:solidFill>
                <a:latin typeface="Noto Sans CJK KR"/>
                <a:ea typeface="Noto Sans CJK KR"/>
              </a:rPr>
              <a:t> Agent가 </a:t>
            </a:r>
            <a:r>
              <a:rPr sz="990" b="0" dirty="0" err="1">
                <a:solidFill>
                  <a:srgbClr val="68716A"/>
                </a:solidFill>
                <a:latin typeface="Noto Sans CJK KR"/>
                <a:ea typeface="Noto Sans CJK KR"/>
              </a:rPr>
              <a:t>필요한</a:t>
            </a:r>
            <a:r>
              <a:rPr sz="990" b="0" dirty="0">
                <a:solidFill>
                  <a:srgbClr val="68716A"/>
                </a:solidFill>
                <a:latin typeface="Noto Sans CJK KR"/>
                <a:ea typeface="Noto Sans CJK KR"/>
              </a:rPr>
              <a:t> </a:t>
            </a:r>
            <a:r>
              <a:rPr sz="990" b="0" dirty="0" err="1">
                <a:solidFill>
                  <a:srgbClr val="68716A"/>
                </a:solidFill>
                <a:latin typeface="Noto Sans CJK KR"/>
                <a:ea typeface="Noto Sans CJK KR"/>
              </a:rPr>
              <a:t>것은</a:t>
            </a:r>
            <a:r>
              <a:rPr sz="990" b="0" dirty="0">
                <a:solidFill>
                  <a:srgbClr val="68716A"/>
                </a:solidFill>
                <a:latin typeface="Noto Sans CJK KR"/>
                <a:ea typeface="Noto Sans CJK KR"/>
              </a:rPr>
              <a:t> </a:t>
            </a:r>
            <a:r>
              <a:rPr sz="990" b="0" dirty="0" err="1">
                <a:solidFill>
                  <a:srgbClr val="68716A"/>
                </a:solidFill>
                <a:latin typeface="Noto Sans CJK KR"/>
                <a:ea typeface="Noto Sans CJK KR"/>
              </a:rPr>
              <a:t>아닙니다</a:t>
            </a:r>
            <a:r>
              <a:rPr sz="990" b="0" dirty="0">
                <a:solidFill>
                  <a:srgbClr val="68716A"/>
                </a:solidFill>
                <a:latin typeface="Noto Sans CJK KR"/>
                <a:ea typeface="Noto Sans CJK KR"/>
              </a:rPr>
              <a:t>. </a:t>
            </a:r>
            <a:r>
              <a:rPr sz="990" b="0" dirty="0" err="1">
                <a:solidFill>
                  <a:srgbClr val="68716A"/>
                </a:solidFill>
                <a:latin typeface="Noto Sans CJK KR"/>
                <a:ea typeface="Noto Sans CJK KR"/>
              </a:rPr>
              <a:t>비교</a:t>
            </a:r>
            <a:r>
              <a:rPr sz="990" b="0" dirty="0">
                <a:solidFill>
                  <a:srgbClr val="68716A"/>
                </a:solidFill>
                <a:latin typeface="Noto Sans CJK KR"/>
                <a:ea typeface="Noto Sans CJK KR"/>
              </a:rPr>
              <a:t> </a:t>
            </a:r>
            <a:r>
              <a:rPr sz="990" b="0" dirty="0" err="1">
                <a:solidFill>
                  <a:srgbClr val="68716A"/>
                </a:solidFill>
                <a:latin typeface="Noto Sans CJK KR"/>
                <a:ea typeface="Noto Sans CJK KR"/>
              </a:rPr>
              <a:t>결과로</a:t>
            </a:r>
            <a:r>
              <a:rPr sz="990" b="0" dirty="0">
                <a:solidFill>
                  <a:srgbClr val="68716A"/>
                </a:solidFill>
                <a:latin typeface="Noto Sans CJK KR"/>
                <a:ea typeface="Noto Sans CJK KR"/>
              </a:rPr>
              <a:t> </a:t>
            </a:r>
            <a:r>
              <a:rPr sz="990" b="0" dirty="0" err="1">
                <a:solidFill>
                  <a:srgbClr val="68716A"/>
                </a:solidFill>
                <a:latin typeface="Noto Sans CJK KR"/>
                <a:ea typeface="Noto Sans CJK KR"/>
              </a:rPr>
              <a:t>선택합니다</a:t>
            </a:r>
            <a:r>
              <a:rPr sz="990" b="0" dirty="0">
                <a:solidFill>
                  <a:srgbClr val="68716A"/>
                </a:solidFill>
                <a:latin typeface="Noto Sans CJK KR"/>
                <a:ea typeface="Noto Sans CJK KR"/>
              </a:rPr>
              <a:t>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1759" y="4120744"/>
            <a:ext cx="7827264" cy="0"/>
          </a:xfrm>
          <a:prstGeom prst="line">
            <a:avLst/>
          </a:prstGeom>
          <a:ln w="8890">
            <a:solidFill>
              <a:srgbClr val="C9D1CA"/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646175" y="4323512"/>
            <a:ext cx="32004" cy="292608"/>
          </a:xfrm>
          <a:prstGeom prst="rect">
            <a:avLst/>
          </a:prstGeom>
          <a:solidFill>
            <a:srgbClr val="1288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4191" y="4350806"/>
            <a:ext cx="7653527" cy="3017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dirty="0" err="1">
                <a:solidFill>
                  <a:srgbClr val="131713"/>
                </a:solidFill>
                <a:latin typeface="Noto Sans CJK KR"/>
                <a:ea typeface="Noto Sans CJK KR"/>
              </a:rPr>
              <a:t>도구를</a:t>
            </a:r>
            <a:r>
              <a:rPr sz="1260" b="1" dirty="0">
                <a:solidFill>
                  <a:srgbClr val="131713"/>
                </a:solidFill>
                <a:latin typeface="Noto Sans CJK KR"/>
                <a:ea typeface="Noto Sans CJK KR"/>
              </a:rPr>
              <a:t> </a:t>
            </a:r>
            <a:r>
              <a:rPr sz="1260" b="1" dirty="0" err="1">
                <a:solidFill>
                  <a:srgbClr val="131713"/>
                </a:solidFill>
                <a:latin typeface="Noto Sans CJK KR"/>
                <a:ea typeface="Noto Sans CJK KR"/>
              </a:rPr>
              <a:t>더</a:t>
            </a:r>
            <a:r>
              <a:rPr sz="1260" b="1" dirty="0">
                <a:solidFill>
                  <a:srgbClr val="131713"/>
                </a:solidFill>
                <a:latin typeface="Noto Sans CJK KR"/>
                <a:ea typeface="Noto Sans CJK KR"/>
              </a:rPr>
              <a:t> </a:t>
            </a:r>
            <a:r>
              <a:rPr sz="1260" b="1" dirty="0" err="1">
                <a:solidFill>
                  <a:srgbClr val="131713"/>
                </a:solidFill>
                <a:latin typeface="Noto Sans CJK KR"/>
                <a:ea typeface="Noto Sans CJK KR"/>
              </a:rPr>
              <a:t>붙였다는</a:t>
            </a:r>
            <a:r>
              <a:rPr sz="1260" b="1" dirty="0">
                <a:solidFill>
                  <a:srgbClr val="131713"/>
                </a:solidFill>
                <a:latin typeface="Noto Sans CJK KR"/>
                <a:ea typeface="Noto Sans CJK KR"/>
              </a:rPr>
              <a:t> </a:t>
            </a:r>
            <a:r>
              <a:rPr sz="1260" b="1" dirty="0" err="1">
                <a:solidFill>
                  <a:srgbClr val="131713"/>
                </a:solidFill>
                <a:latin typeface="Noto Sans CJK KR"/>
                <a:ea typeface="Noto Sans CJK KR"/>
              </a:rPr>
              <a:t>사실보다</a:t>
            </a:r>
            <a:r>
              <a:rPr sz="1260" b="1" dirty="0">
                <a:solidFill>
                  <a:srgbClr val="131713"/>
                </a:solidFill>
                <a:latin typeface="Noto Sans CJK KR"/>
                <a:ea typeface="Noto Sans CJK KR"/>
              </a:rPr>
              <a:t>, </a:t>
            </a:r>
            <a:r>
              <a:rPr sz="1260" b="1" dirty="0" err="1">
                <a:solidFill>
                  <a:srgbClr val="131713"/>
                </a:solidFill>
                <a:latin typeface="Noto Sans CJK KR"/>
                <a:ea typeface="Noto Sans CJK KR"/>
              </a:rPr>
              <a:t>어떤</a:t>
            </a:r>
            <a:r>
              <a:rPr sz="1260" b="1" dirty="0">
                <a:solidFill>
                  <a:srgbClr val="131713"/>
                </a:solidFill>
                <a:latin typeface="Noto Sans CJK KR"/>
                <a:ea typeface="Noto Sans CJK KR"/>
              </a:rPr>
              <a:t> </a:t>
            </a:r>
            <a:r>
              <a:rPr sz="1260" b="1" dirty="0" err="1">
                <a:solidFill>
                  <a:srgbClr val="131713"/>
                </a:solidFill>
                <a:latin typeface="Noto Sans CJK KR"/>
                <a:ea typeface="Noto Sans CJK KR"/>
              </a:rPr>
              <a:t>실패가</a:t>
            </a:r>
            <a:r>
              <a:rPr sz="1260" b="1" dirty="0">
                <a:solidFill>
                  <a:srgbClr val="131713"/>
                </a:solidFill>
                <a:latin typeface="Noto Sans CJK KR"/>
                <a:ea typeface="Noto Sans CJK KR"/>
              </a:rPr>
              <a:t> </a:t>
            </a:r>
            <a:r>
              <a:rPr sz="1260" b="1" dirty="0" err="1">
                <a:solidFill>
                  <a:srgbClr val="131713"/>
                </a:solidFill>
                <a:latin typeface="Noto Sans CJK KR"/>
                <a:ea typeface="Noto Sans CJK KR"/>
              </a:rPr>
              <a:t>줄었는지</a:t>
            </a:r>
            <a:r>
              <a:rPr sz="1260" b="1" dirty="0">
                <a:solidFill>
                  <a:srgbClr val="131713"/>
                </a:solidFill>
                <a:latin typeface="Noto Sans CJK KR"/>
                <a:ea typeface="Noto Sans CJK KR"/>
              </a:rPr>
              <a:t> </a:t>
            </a:r>
            <a:r>
              <a:rPr sz="1260" b="1" dirty="0" err="1">
                <a:solidFill>
                  <a:srgbClr val="131713"/>
                </a:solidFill>
                <a:latin typeface="Noto Sans CJK KR"/>
                <a:ea typeface="Noto Sans CJK KR"/>
              </a:rPr>
              <a:t>설명합니다</a:t>
            </a:r>
            <a:r>
              <a:rPr sz="1260" b="1" dirty="0">
                <a:solidFill>
                  <a:srgbClr val="131713"/>
                </a:solidFill>
                <a:latin typeface="Noto Sans CJK KR"/>
                <a:ea typeface="Noto Sans CJK KR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24_PRESERVED" descr="page_24_as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25_PRESERVED" descr="page_25_as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27_PRESERVED" descr="page_27_as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28_PRESERVED" descr="page_28_as_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1000" y="37465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1000" y="96520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_TITLE"/>
          <p:cNvSpPr txBox="1"/>
          <p:nvPr/>
        </p:nvSpPr>
        <p:spPr>
          <a:xfrm>
            <a:off x="647700" y="527050"/>
            <a:ext cx="8013700" cy="342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같은 검색 환경에서도 탐색 방식은 달라집니다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508000" y="1174750"/>
            <a:ext cx="8128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5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지금 찾으려는 정보와 알고 있는 문서 위치에 따라 도구를 선택합니다.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828800"/>
            <a:ext cx="3962400" cy="10287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1955800"/>
            <a:ext cx="36576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find | 의미 탐색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2273300"/>
            <a:ext cx="3657600" cy="241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표현은 다르지만 관련된 자료 찾기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2578100"/>
            <a:ext cx="3657600" cy="20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4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예: 회사 밖 사람 ↔ 외부 사용자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73600" y="1828800"/>
            <a:ext cx="3962400" cy="10287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6000" y="1955800"/>
            <a:ext cx="36576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grep | 문자열·패턴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0" y="2273300"/>
            <a:ext cx="3657600" cy="241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제품 코드·버전·정확한 표현 찾기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0" y="2578100"/>
            <a:ext cx="3657600" cy="20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4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예: v2.1 / Policy-R17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3060700"/>
            <a:ext cx="3962400" cy="10287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400" y="3187700"/>
            <a:ext cx="36576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browse | 구조 탐색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400" y="3505200"/>
            <a:ext cx="3657600" cy="241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어디에 무엇이 있는지 확인하기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400" y="3810000"/>
            <a:ext cx="3657600" cy="20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4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ls·tree 등을 감싼 수업용 도구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73600" y="3060700"/>
            <a:ext cx="3962400" cy="10287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26000" y="3187700"/>
            <a:ext cx="36576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read | 본문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0" y="3505200"/>
            <a:ext cx="3657600" cy="241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알고 있는 문서의 근거 읽기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0" y="3810000"/>
            <a:ext cx="3657600" cy="20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4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위치를 알면 재검색을 생략할 수 있음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8000" y="43878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SCUSSION_OR_TAKEAWAY"/>
          <p:cNvSpPr txBox="1"/>
          <p:nvPr/>
        </p:nvSpPr>
        <p:spPr>
          <a:xfrm>
            <a:off x="508000" y="4457700"/>
            <a:ext cx="8128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이미 URI를 알고 있다면 어떤 도구부터 사용할까요?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1000" y="37465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1000" y="96520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_TITLE"/>
          <p:cNvSpPr txBox="1"/>
          <p:nvPr/>
        </p:nvSpPr>
        <p:spPr>
          <a:xfrm>
            <a:off x="647700" y="527050"/>
            <a:ext cx="8013700" cy="342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OCR, </a:t>
            </a:r>
            <a:r>
              <a:rPr lang="ko-KR" sz="1800" b="1" dirty="0" err="1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VLM이</a:t>
            </a:r>
            <a:r>
              <a:rPr lang="ko-KR" sz="1800" b="1" dirty="0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만능 해법이 아닙니다.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508000" y="1174750"/>
            <a:ext cx="8128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5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문서를 처리했는지가 아니라, 답에 필요한 근거가 보존됐는지 확인합니다.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828800"/>
            <a:ext cx="2438400" cy="17653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52800" y="1828800"/>
            <a:ext cx="2438400" cy="17653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7600" y="1828800"/>
            <a:ext cx="2438400" cy="17653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700" y="1943100"/>
            <a:ext cx="21590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원문에 있는 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2500" y="1943100"/>
            <a:ext cx="21590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잘못 파싱된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7300" y="1943100"/>
            <a:ext cx="21590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검색·읽기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2298700"/>
            <a:ext cx="2159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6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서비스 A · 외부 공유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2500" y="2298700"/>
            <a:ext cx="2159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6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서비스 A · 외부 공유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590800"/>
            <a:ext cx="2184400" cy="2667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300" y="2616200"/>
            <a:ext cx="546100" cy="215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버전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" y="2616200"/>
            <a:ext cx="1181100" cy="215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지원 여부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5000" y="3136900"/>
            <a:ext cx="21844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300" y="2895600"/>
            <a:ext cx="5461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2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v2.0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" y="2895600"/>
            <a:ext cx="11811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2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지원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136900"/>
            <a:ext cx="2184400" cy="279400"/>
          </a:xfrm>
          <a:prstGeom prst="rect">
            <a:avLst/>
          </a:prstGeom>
          <a:solidFill>
            <a:srgbClr val="F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635000" y="3416300"/>
            <a:ext cx="21844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9300" y="3175000"/>
            <a:ext cx="5461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2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v2.1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" y="3175000"/>
            <a:ext cx="11811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2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미지원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9800" y="2590800"/>
            <a:ext cx="2184400" cy="2667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94100" y="2616200"/>
            <a:ext cx="546100" cy="215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버전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8800" y="2616200"/>
            <a:ext cx="1181100" cy="215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지원 여부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479800" y="3136900"/>
            <a:ext cx="21844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94100" y="2895600"/>
            <a:ext cx="5461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2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v2.0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8800" y="2895600"/>
            <a:ext cx="11811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2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지원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2500" y="3263900"/>
            <a:ext cx="2146300" cy="215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5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v2.1 행이 누락됨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7300" y="2463800"/>
            <a:ext cx="2159000" cy="266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5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v2.0 정보만 발견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7300" y="2870200"/>
            <a:ext cx="2159000" cy="482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2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v2.1의 지원 여부는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2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확인할 수 없습니다.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997200" y="2730500"/>
            <a:ext cx="292100" cy="0"/>
          </a:xfrm>
          <a:prstGeom prst="line">
            <a:avLst/>
          </a:prstGeom>
          <a:ln w="10795">
            <a:solidFill>
              <a:srgbClr val="666A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42000" y="2730500"/>
            <a:ext cx="292100" cy="0"/>
          </a:xfrm>
          <a:prstGeom prst="line">
            <a:avLst/>
          </a:prstGeom>
          <a:ln w="10795">
            <a:solidFill>
              <a:srgbClr val="666A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08000" y="3873500"/>
            <a:ext cx="8128000" cy="330200"/>
          </a:xfrm>
          <a:prstGeom prst="rect">
            <a:avLst/>
          </a:prstGeom>
          <a:solidFill>
            <a:srgbClr val="F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7700" y="3924300"/>
            <a:ext cx="78486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원문과 대조  →  필요한 페이지·영역의 처리 방식 변경  →  다시 검색·읽기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8000" y="43878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SCUSSION_OR_TAKEAWAY"/>
          <p:cNvSpPr txBox="1"/>
          <p:nvPr/>
        </p:nvSpPr>
        <p:spPr>
          <a:xfrm>
            <a:off x="508000" y="4457700"/>
            <a:ext cx="8128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원문에는 답이 있는데 파싱 결과에 없다면, 무엇부터 바꿔야 할까요?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31_PRESERVED" descr="page_31_as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1000" y="37465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1000" y="96520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_TITLE"/>
          <p:cNvSpPr txBox="1"/>
          <p:nvPr/>
        </p:nvSpPr>
        <p:spPr>
          <a:xfrm>
            <a:off x="647700" y="527050"/>
            <a:ext cx="8013700" cy="342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Agent에게 전달할 검색 도구(Tool)는…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508000" y="1174750"/>
            <a:ext cx="8128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5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검색 결과와 함께 문서의 위치·버전·실행 상태도 전달해야 합니다.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816100"/>
            <a:ext cx="2311400" cy="2273300"/>
          </a:xfrm>
          <a:prstGeom prst="rect">
            <a:avLst/>
          </a:prstGeom>
          <a:solidFill>
            <a:srgbClr val="F2F3F2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16300" y="1816100"/>
            <a:ext cx="2311400" cy="2273300"/>
          </a:xfrm>
          <a:prstGeom prst="rect">
            <a:avLst/>
          </a:prstGeom>
          <a:solidFill>
            <a:srgbClr val="F2F3F2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8400" y="1816100"/>
            <a:ext cx="2311400" cy="2273300"/>
          </a:xfrm>
          <a:prstGeom prst="rect">
            <a:avLst/>
          </a:prstGeom>
          <a:solidFill>
            <a:srgbClr val="F2F3F2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6600" y="1981200"/>
            <a:ext cx="20066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2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도구 호출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8700" y="1981200"/>
            <a:ext cx="20066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2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정상 결과의 양식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81200"/>
            <a:ext cx="20066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2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실행 상태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2438400"/>
            <a:ext cx="1993900" cy="140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browse(uri, depth)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ko-KR" sz="1090" b="0">
              <a:solidFill>
                <a:srgbClr val="121512"/>
              </a:solidFill>
              <a:latin typeface="Gothic A1"/>
              <a:ea typeface="Gothic A1"/>
              <a:cs typeface="Gothic A1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grep(pattern, uri)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ko-KR" sz="1090" b="0">
              <a:solidFill>
                <a:srgbClr val="121512"/>
              </a:solidFill>
              <a:latin typeface="Gothic A1"/>
              <a:ea typeface="Gothic A1"/>
              <a:cs typeface="Gothic A1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read(uri)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8700" y="2400300"/>
            <a:ext cx="1993900" cy="156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URI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Evidence_ID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Content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Version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Ref_ID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38400"/>
            <a:ext cx="1993900" cy="142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4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Empty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ko-KR" sz="1240" b="0">
              <a:solidFill>
                <a:srgbClr val="121512"/>
              </a:solidFill>
              <a:latin typeface="Gothic A1"/>
              <a:ea typeface="Gothic A1"/>
              <a:cs typeface="Gothic A1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4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Timeout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ko-KR" sz="1240" b="0">
              <a:solidFill>
                <a:srgbClr val="121512"/>
              </a:solidFill>
              <a:latin typeface="Gothic A1"/>
              <a:ea typeface="Gothic A1"/>
              <a:cs typeface="Gothic A1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4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Denied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8000" y="43878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SCUSSION_OR_TAKEAWAY"/>
          <p:cNvSpPr txBox="1"/>
          <p:nvPr/>
        </p:nvSpPr>
        <p:spPr>
          <a:xfrm>
            <a:off x="508000" y="4457700"/>
            <a:ext cx="8128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무엇보다 출력 규격이 약속된 형태인 게 좋습니다.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1000" y="37465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1000" y="96520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_TITLE"/>
          <p:cNvSpPr txBox="1"/>
          <p:nvPr/>
        </p:nvSpPr>
        <p:spPr>
          <a:xfrm>
            <a:off x="647700" y="527050"/>
            <a:ext cx="8013700" cy="342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검색은 LLM 없이도 점검할 수 있습니다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508000" y="1174750"/>
            <a:ext cx="8128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5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답변을 생성하기 전에, 필요한 근거가 검색되고 실제로 읽히는지 확인합니다.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32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930400"/>
            <a:ext cx="3568700" cy="2108200"/>
          </a:xfrm>
          <a:prstGeom prst="rect">
            <a:avLst/>
          </a:prstGeom>
          <a:solidFill>
            <a:srgbClr val="F2F3F2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57700" y="1930400"/>
            <a:ext cx="4102100" cy="2108200"/>
          </a:xfrm>
          <a:prstGeom prst="rect">
            <a:avLst/>
          </a:prstGeom>
          <a:solidFill>
            <a:srgbClr val="F2F3F2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2095500"/>
            <a:ext cx="32004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2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수동 탐색·호출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16200"/>
            <a:ext cx="3200400" cy="1181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3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browse → 버전별 문서 확인</a:t>
            </a:r>
          </a:p>
          <a:p>
            <a:pPr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3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grep → 대상 문서 위치 확인</a:t>
            </a:r>
          </a:p>
          <a:p>
            <a:pPr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3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read → 각 문서의 본문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5500" y="2095500"/>
            <a:ext cx="37465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2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사람의 판단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5500" y="2590800"/>
            <a:ext cx="3746500" cy="134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73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1. 진짜 자료에 없는 건가?</a:t>
            </a:r>
          </a:p>
          <a:p>
            <a:pPr algn="l">
              <a:lnSpc>
                <a:spcPct val="173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2. 파싱할 때 사라졌나?</a:t>
            </a:r>
          </a:p>
          <a:p>
            <a:pPr algn="l">
              <a:lnSpc>
                <a:spcPct val="173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3. 후보 문서 또는 read 과정에서 누락됐나?</a:t>
            </a:r>
          </a:p>
          <a:p>
            <a:pPr algn="l">
              <a:lnSpc>
                <a:spcPct val="173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4. 다른 버전의 문서를 선택했나?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8000" y="43878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ISCUSSION_OR_TAKEAWAY"/>
          <p:cNvSpPr txBox="1"/>
          <p:nvPr/>
        </p:nvSpPr>
        <p:spPr>
          <a:xfrm>
            <a:off x="508000" y="4457700"/>
            <a:ext cx="8128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실습 | 도구 호출 결과와 원문 위치를 나란히 기록합니다.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34_PRESERVED" descr="page_34_as_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35_PRESERVED" descr="page_35_as_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1000" y="37465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1000" y="96520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_TITLE"/>
          <p:cNvSpPr txBox="1"/>
          <p:nvPr/>
        </p:nvSpPr>
        <p:spPr>
          <a:xfrm>
            <a:off x="647700" y="527050"/>
            <a:ext cx="8013700" cy="342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검색 결과를 답변용 </a:t>
            </a:r>
            <a:r>
              <a:rPr lang="ko-KR" sz="1800" b="1" dirty="0" err="1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Context로</a:t>
            </a:r>
            <a:r>
              <a:rPr lang="ko-KR" sz="1800" b="1" dirty="0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구성하기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508000" y="1174750"/>
            <a:ext cx="8128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5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본문에 ID·위치·버전 등의 메타데이터를 붙여, 모델이 사용할 정보 묶음으로 만듭니다.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800" y="1765300"/>
            <a:ext cx="2336800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03600" y="1765300"/>
            <a:ext cx="2336800" cy="1943100"/>
          </a:xfrm>
          <a:prstGeom prst="rect">
            <a:avLst/>
          </a:prstGeom>
          <a:solidFill>
            <a:srgbClr val="F0F7F1"/>
          </a:solidFill>
          <a:ln w="7620">
            <a:solidFill>
              <a:srgbClr val="198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8400" y="1765300"/>
            <a:ext cx="2336800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1200" y="1905000"/>
            <a:ext cx="20320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검색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6000" y="1905000"/>
            <a:ext cx="20320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EvidenceBundle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05000"/>
            <a:ext cx="20320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이번 호출의 입력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8500" y="2349500"/>
            <a:ext cx="355600" cy="279400"/>
          </a:xfrm>
          <a:prstGeom prst="rect">
            <a:avLst/>
          </a:prstGeom>
          <a:solidFill>
            <a:srgbClr val="F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000" y="2362200"/>
            <a:ext cx="228600" cy="241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1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E1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2362200"/>
            <a:ext cx="1511300" cy="241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A · v2.1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8500" y="2717800"/>
            <a:ext cx="355600" cy="279400"/>
          </a:xfrm>
          <a:prstGeom prst="rect">
            <a:avLst/>
          </a:prstGeom>
          <a:solidFill>
            <a:srgbClr val="F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2000" y="2730500"/>
            <a:ext cx="228600" cy="241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1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E2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1100" y="2730500"/>
            <a:ext cx="1511300" cy="241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A · v2.0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8500" y="3086100"/>
            <a:ext cx="355600" cy="279400"/>
          </a:xfrm>
          <a:prstGeom prst="rect">
            <a:avLst/>
          </a:prstGeom>
          <a:solidFill>
            <a:srgbClr val="F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2000" y="3098800"/>
            <a:ext cx="228600" cy="241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1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E3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1100" y="3098800"/>
            <a:ext cx="1511300" cy="241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B · v2.1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200" y="3454400"/>
            <a:ext cx="2019300" cy="20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969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중복·잘린 문맥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6000" y="2374900"/>
            <a:ext cx="2032000" cy="1143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3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선택 근거: E1 + E2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3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원문 위치·버전·본문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3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미확인 항목·충돌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36800"/>
            <a:ext cx="2032000" cy="1257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3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업무 지시</a:t>
            </a:r>
          </a:p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3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사용자 질문</a:t>
            </a:r>
          </a:p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3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선택한 근거</a:t>
            </a:r>
          </a:p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3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출력·보류 정책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71800" y="2717800"/>
            <a:ext cx="355600" cy="0"/>
          </a:xfrm>
          <a:prstGeom prst="line">
            <a:avLst/>
          </a:prstGeom>
          <a:ln w="10795">
            <a:solidFill>
              <a:srgbClr val="666A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16600" y="2717800"/>
            <a:ext cx="355600" cy="0"/>
          </a:xfrm>
          <a:prstGeom prst="line">
            <a:avLst/>
          </a:prstGeom>
          <a:ln w="10795">
            <a:solidFill>
              <a:srgbClr val="666A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58800" y="3924300"/>
            <a:ext cx="80264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비교 경로도 남깁니다: 전체 문서 전달 / 선택 근거 / 방해 문서 혼합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8000" y="43878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DISCUSSION_OR_TAKEAWAY"/>
          <p:cNvSpPr txBox="1"/>
          <p:nvPr/>
        </p:nvSpPr>
        <p:spPr>
          <a:xfrm>
            <a:off x="508000" y="4457700"/>
            <a:ext cx="8128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관련 문서가 많을수록 항상 더 좋은 답변이 나올까요?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1000" y="37465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1000" y="96520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_TITLE"/>
          <p:cNvSpPr txBox="1"/>
          <p:nvPr/>
        </p:nvSpPr>
        <p:spPr>
          <a:xfrm>
            <a:off x="647700" y="527050"/>
            <a:ext cx="8013700" cy="342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문서의 단순 요약이 아니라 질문에 답변하는 것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508000" y="1174750"/>
            <a:ext cx="8128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5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답변의 각 주장이 어떤 근거에서 나왔는지 확인합니다.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36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587500"/>
            <a:ext cx="8128000" cy="330200"/>
          </a:xfrm>
          <a:prstGeom prst="rect">
            <a:avLst/>
          </a:prstGeom>
          <a:solidFill>
            <a:srgbClr val="F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638300"/>
            <a:ext cx="7848600" cy="241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3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질문 | 서비스 A의 외부 공유는 v2.0에서 v2.1로 어떻게 바뀌었나요?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070100"/>
            <a:ext cx="4102100" cy="19939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400" y="2222500"/>
            <a:ext cx="3797300" cy="266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8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질문에 답한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603500"/>
            <a:ext cx="3797300" cy="1320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4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서비스 A는 v2.0에서 외부 공유를 지원했지만 [E2],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4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v2.1에서는 지원하지 않습니다 [E1].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endParaRPr lang="ko-KR" sz="1140" b="0">
              <a:solidFill>
                <a:srgbClr val="121512"/>
              </a:solidFill>
              <a:latin typeface="Gothic A1"/>
              <a:ea typeface="Gothic A1"/>
              <a:cs typeface="Gothic A1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4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문서상 지원 여부는 지원 → 미지원으로 바뀌었습니다.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4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변경 이유는 제공된 근거에서 확인할 수 없습니다.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38700" y="2070100"/>
            <a:ext cx="3797300" cy="3683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3000" y="2095500"/>
            <a:ext cx="2273300" cy="317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답변에 포함할 주장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4900" y="2095500"/>
            <a:ext cx="1066800" cy="317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필요한 근거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38700" y="2844800"/>
            <a:ext cx="37973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53000" y="2476500"/>
            <a:ext cx="2273300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2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v2.0에서는 지원했다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4900" y="2476500"/>
            <a:ext cx="1066800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2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E2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8700" y="3251200"/>
            <a:ext cx="37973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53000" y="2882900"/>
            <a:ext cx="2273300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2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v2.1에서는 지원하지 않는다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4900" y="2882900"/>
            <a:ext cx="1066800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2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E1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38700" y="3251200"/>
            <a:ext cx="3797300" cy="406400"/>
          </a:xfrm>
          <a:prstGeom prst="rect">
            <a:avLst/>
          </a:prstGeom>
          <a:solidFill>
            <a:srgbClr val="F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4838700" y="3657600"/>
            <a:ext cx="37973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953000" y="3289300"/>
            <a:ext cx="2273300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2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지원 → 미지원으로 바뀌었다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4900" y="3289300"/>
            <a:ext cx="1066800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2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E2 + E1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38700" y="4064000"/>
            <a:ext cx="37973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953000" y="3695700"/>
            <a:ext cx="2273300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2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보안 강화를 위해 바뀌었다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4900" y="3695700"/>
            <a:ext cx="1066800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2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근거 없음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8000" y="43878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DISCUSSION_OR_TAKEAWAY"/>
          <p:cNvSpPr txBox="1"/>
          <p:nvPr/>
        </p:nvSpPr>
        <p:spPr>
          <a:xfrm>
            <a:off x="508000" y="4457700"/>
            <a:ext cx="8128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자료를 나열하는 것과, 질문이 요구한 변화를 설명하는 것은 다릅니다.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38_PRESERVED" descr="page_38_as_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1000" y="37465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1000" y="96520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_TITLE"/>
          <p:cNvSpPr txBox="1"/>
          <p:nvPr/>
        </p:nvSpPr>
        <p:spPr>
          <a:xfrm>
            <a:off x="647700" y="527050"/>
            <a:ext cx="8013700" cy="342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출력의 형식은 단순히 프롬프트만으로 고정시키지 않습니다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508000" y="1174750"/>
            <a:ext cx="8128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5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형식 검사와 근거·내용 검증은 서로 다른 검사입니다.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816100"/>
            <a:ext cx="3581400" cy="2171700"/>
          </a:xfrm>
          <a:prstGeom prst="rect">
            <a:avLst/>
          </a:prstGeom>
          <a:solidFill>
            <a:srgbClr val="F5F6F5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6600" y="1955800"/>
            <a:ext cx="32512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7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문법적으로 가능한 출력 예시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300" y="2527300"/>
            <a:ext cx="3225800" cy="1193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{</a:t>
            </a:r>
          </a:p>
          <a:p>
            <a:pPr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  "status": "answered",</a:t>
            </a:r>
          </a:p>
          <a:p>
            <a:pPr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  "evidence_ids": ["E99"]</a:t>
            </a:r>
          </a:p>
          <a:p>
            <a:pPr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9800" y="1816100"/>
            <a:ext cx="3822700" cy="647700"/>
          </a:xfrm>
          <a:prstGeom prst="rect">
            <a:avLst/>
          </a:prstGeom>
          <a:solidFill>
            <a:srgbClr val="F0F7F1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89500" y="1892300"/>
            <a:ext cx="35433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1  스키마 검사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9500" y="2184400"/>
            <a:ext cx="3543300" cy="20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필드·타입이 맞음 → 형식 통과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9800" y="2578100"/>
            <a:ext cx="3822700" cy="6477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89500" y="2654300"/>
            <a:ext cx="35433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2  근거 ID 검사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9500" y="2946400"/>
            <a:ext cx="3543300" cy="20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E99는 제공되지 않음 → 근거 검사 실패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9800" y="3340100"/>
            <a:ext cx="3822700" cy="6477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89500" y="3416300"/>
            <a:ext cx="35433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3  주장 지지 검사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9500" y="3708400"/>
            <a:ext cx="3543300" cy="20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8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근거가 실제로 주장을 뒷받침하는가?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67200" y="2870200"/>
            <a:ext cx="368300" cy="0"/>
          </a:xfrm>
          <a:prstGeom prst="line">
            <a:avLst/>
          </a:prstGeom>
          <a:ln w="10795">
            <a:solidFill>
              <a:srgbClr val="666A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8000" y="43878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SCUSSION_OR_TAKEAWAY"/>
          <p:cNvSpPr txBox="1"/>
          <p:nvPr/>
        </p:nvSpPr>
        <p:spPr>
          <a:xfrm>
            <a:off x="508000" y="4457700"/>
            <a:ext cx="8128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Structured Outputs ≠ 사실 검증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40_PRESERVED" descr="page_40_as_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EST_PDF_PAGE_41_PRESERVED" descr="page_41_as_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5250"/>
          </a:xfrm>
          <a:prstGeom prst="rect">
            <a:avLst/>
          </a:prstGeom>
          <a:solidFill>
            <a:srgbClr val="04B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48250"/>
            <a:ext cx="9144000" cy="95250"/>
          </a:xfrm>
          <a:prstGeom prst="rect">
            <a:avLst/>
          </a:prstGeom>
          <a:solidFill>
            <a:srgbClr val="04B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" cy="5143500"/>
          </a:xfrm>
          <a:prstGeom prst="rect">
            <a:avLst/>
          </a:prstGeom>
          <a:solidFill>
            <a:srgbClr val="04B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48750" y="0"/>
            <a:ext cx="95250" cy="5143500"/>
          </a:xfrm>
          <a:prstGeom prst="rect">
            <a:avLst/>
          </a:prstGeom>
          <a:solidFill>
            <a:srgbClr val="04B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APTER_LABEL"/>
          <p:cNvSpPr txBox="1"/>
          <p:nvPr/>
        </p:nvSpPr>
        <p:spPr>
          <a:xfrm>
            <a:off x="952500" y="1143000"/>
            <a:ext cx="6985000" cy="419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2000" b="1">
                <a:solidFill>
                  <a:srgbClr val="04B82B"/>
                </a:solidFill>
                <a:latin typeface="Gothic A1"/>
                <a:ea typeface="Gothic A1"/>
                <a:cs typeface="Gothic A1"/>
              </a:rPr>
              <a:t>Chapter 5.</a:t>
            </a:r>
          </a:p>
        </p:txBody>
      </p:sp>
      <p:sp>
        <p:nvSpPr>
          <p:cNvPr id="7" name="SLIDE_TITLE"/>
          <p:cNvSpPr txBox="1"/>
          <p:nvPr/>
        </p:nvSpPr>
        <p:spPr>
          <a:xfrm>
            <a:off x="952500" y="1917700"/>
            <a:ext cx="7505700" cy="571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250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범용 Agentic RAG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667000"/>
            <a:ext cx="7493000" cy="393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3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검색과 답변을 하나의 실행 흐름으로 연결합니다.</a:t>
            </a:r>
          </a:p>
        </p:txBody>
      </p:sp>
      <p:sp>
        <p:nvSpPr>
          <p:cNvPr id="9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7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1000" y="37465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1000" y="96520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_TITLE"/>
          <p:cNvSpPr txBox="1"/>
          <p:nvPr/>
        </p:nvSpPr>
        <p:spPr>
          <a:xfrm>
            <a:off x="647700" y="527050"/>
            <a:ext cx="8013700" cy="342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검색과 답변을 하나의 실행 흐름으로 연결하기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508000" y="1174750"/>
            <a:ext cx="8128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5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질문과 문서의 관련성만 보지 말고, 근거의 충분성과 종료 조건을 함께 확인합니다.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42</a:t>
            </a:r>
          </a:p>
        </p:txBody>
      </p:sp>
      <p:sp>
        <p:nvSpPr>
          <p:cNvPr id="7" name="Rectangle 6"/>
          <p:cNvSpPr/>
          <p:nvPr/>
        </p:nvSpPr>
        <p:spPr>
          <a:xfrm>
            <a:off x="469900" y="2032000"/>
            <a:ext cx="774700" cy="6350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8000" y="2197100"/>
            <a:ext cx="6985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질문</a:t>
            </a:r>
          </a:p>
        </p:txBody>
      </p:sp>
      <p:sp>
        <p:nvSpPr>
          <p:cNvPr id="9" name="Rectangle 8"/>
          <p:cNvSpPr/>
          <p:nvPr/>
        </p:nvSpPr>
        <p:spPr>
          <a:xfrm>
            <a:off x="1765300" y="2006600"/>
            <a:ext cx="1612900" cy="6985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41500" y="2082800"/>
            <a:ext cx="14605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검색·읽기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1500" y="2425700"/>
            <a:ext cx="1460500" cy="20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94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browse / grep / read</a:t>
            </a:r>
          </a:p>
        </p:txBody>
      </p:sp>
      <p:sp>
        <p:nvSpPr>
          <p:cNvPr id="12" name="Diamond 11"/>
          <p:cNvSpPr/>
          <p:nvPr/>
        </p:nvSpPr>
        <p:spPr>
          <a:xfrm>
            <a:off x="3898900" y="1828800"/>
            <a:ext cx="1689100" cy="1092200"/>
          </a:xfrm>
          <a:prstGeom prst="diamond">
            <a:avLst/>
          </a:prstGeom>
          <a:solidFill>
            <a:srgbClr val="F0F7F1"/>
          </a:solidFill>
          <a:ln w="10795">
            <a:solidFill>
              <a:srgbClr val="198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40200" y="2070100"/>
            <a:ext cx="1206500" cy="609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근거가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충분한가?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2900" y="1981200"/>
            <a:ext cx="1955800" cy="774700"/>
          </a:xfrm>
          <a:prstGeom prst="rect">
            <a:avLst/>
          </a:prstGeom>
          <a:solidFill>
            <a:srgbClr val="F0F7F1"/>
          </a:solidFill>
          <a:ln w="10795">
            <a:solidFill>
              <a:srgbClr val="198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2600" y="2222500"/>
            <a:ext cx="1676400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답변 생성·검증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46200" y="2349500"/>
            <a:ext cx="304800" cy="0"/>
          </a:xfrm>
          <a:prstGeom prst="line">
            <a:avLst/>
          </a:prstGeom>
          <a:ln w="11430">
            <a:solidFill>
              <a:srgbClr val="12151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92500" y="2349500"/>
            <a:ext cx="279400" cy="0"/>
          </a:xfrm>
          <a:prstGeom prst="line">
            <a:avLst/>
          </a:prstGeom>
          <a:ln w="11430">
            <a:solidFill>
              <a:srgbClr val="12151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715000" y="2349500"/>
            <a:ext cx="838200" cy="0"/>
          </a:xfrm>
          <a:prstGeom prst="line">
            <a:avLst/>
          </a:prstGeom>
          <a:ln w="11430">
            <a:solidFill>
              <a:srgbClr val="19864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0" y="2044700"/>
            <a:ext cx="4826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70" b="0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충분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49800" y="3048000"/>
            <a:ext cx="0" cy="266700"/>
          </a:xfrm>
          <a:prstGeom prst="line">
            <a:avLst/>
          </a:prstGeom>
          <a:ln w="11430">
            <a:solidFill>
              <a:srgbClr val="666A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40300" y="3073400"/>
            <a:ext cx="571500" cy="241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7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부족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59200" y="3390900"/>
            <a:ext cx="2247900" cy="7239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98900" y="3492500"/>
            <a:ext cx="19685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추가 탐색 가능한가?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0800" y="3848100"/>
            <a:ext cx="2032000" cy="20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3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시간 · 호출 예산 · 새 근거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92900" y="3390900"/>
            <a:ext cx="1955800" cy="723900"/>
          </a:xfrm>
          <a:prstGeom prst="rect">
            <a:avLst/>
          </a:prstGeom>
          <a:solidFill>
            <a:srgbClr val="F5F6F5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07200" y="3530600"/>
            <a:ext cx="17272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2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부분 답변·추가 질문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2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또는 근거 부족 안내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1400" y="3746500"/>
            <a:ext cx="431800" cy="0"/>
          </a:xfrm>
          <a:prstGeom prst="line">
            <a:avLst/>
          </a:prstGeom>
          <a:ln w="11430">
            <a:solidFill>
              <a:srgbClr val="666A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34100" y="3479800"/>
            <a:ext cx="4826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7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종료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578100" y="3746500"/>
            <a:ext cx="1066800" cy="0"/>
          </a:xfrm>
          <a:prstGeom prst="line">
            <a:avLst/>
          </a:prstGeom>
          <a:ln w="10795">
            <a:solidFill>
              <a:srgbClr val="666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578100" y="2857500"/>
            <a:ext cx="0" cy="889000"/>
          </a:xfrm>
          <a:prstGeom prst="line">
            <a:avLst/>
          </a:prstGeom>
          <a:ln w="11430">
            <a:solidFill>
              <a:srgbClr val="12151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946400" y="3492500"/>
            <a:ext cx="508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70" b="0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가능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" y="3505200"/>
            <a:ext cx="1816100" cy="495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6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부족한 사실에 맞게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6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도구·질의·범위 변경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8000" y="43878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ISCUSSION_OR_TAKEAWAY"/>
          <p:cNvSpPr txBox="1"/>
          <p:nvPr/>
        </p:nvSpPr>
        <p:spPr>
          <a:xfrm>
            <a:off x="508000" y="4457700"/>
            <a:ext cx="8128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제한은 매 호출 전 코드로 검사합니다. 같은 검색을 진전 없이 반복하지 않습니다.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1000" y="37465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1000" y="96520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_TITLE"/>
          <p:cNvSpPr txBox="1"/>
          <p:nvPr/>
        </p:nvSpPr>
        <p:spPr>
          <a:xfrm>
            <a:off x="647700" y="527050"/>
            <a:ext cx="8013700" cy="342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우리가 만들 시스템은 어디까지</a:t>
            </a:r>
            <a:r>
              <a:rPr lang="ko-KR" altLang="en-US" sz="1800" b="1" dirty="0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 </a:t>
            </a:r>
            <a:r>
              <a:rPr lang="ko-KR" altLang="en-US" sz="1800" b="1" dirty="0" err="1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커버해야하나</a:t>
            </a:r>
            <a:r>
              <a:rPr lang="ko-KR" sz="1800" b="1" dirty="0" err="1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요</a:t>
            </a:r>
            <a:r>
              <a:rPr lang="ko-KR" sz="1800" b="1" dirty="0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?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508000" y="1174750"/>
            <a:ext cx="8128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5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검색 환경, 도구, 실행 흐름, 답변 검증의 역할을 나누어 연결합니다.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43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866900"/>
            <a:ext cx="1841500" cy="20193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03500" y="1866900"/>
            <a:ext cx="1841500" cy="20193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99000" y="1866900"/>
            <a:ext cx="1841500" cy="2019300"/>
          </a:xfrm>
          <a:prstGeom prst="rect">
            <a:avLst/>
          </a:prstGeom>
          <a:solidFill>
            <a:srgbClr val="F0F7F1"/>
          </a:solidFill>
          <a:ln w="7620">
            <a:solidFill>
              <a:srgbClr val="198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94500" y="1866900"/>
            <a:ext cx="1841500" cy="20193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000" y="2032000"/>
            <a:ext cx="15875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문서·검색 환경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0500" y="2032000"/>
            <a:ext cx="15875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검색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0" y="2032000"/>
            <a:ext cx="15875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실행 흐름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1500" y="2032000"/>
            <a:ext cx="15875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답변·검증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2463800"/>
            <a:ext cx="15875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5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OpenViking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2921000"/>
            <a:ext cx="1587500" cy="685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자료의 구조·검색 위치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원문과 버전 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0500" y="2463800"/>
            <a:ext cx="15875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3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browse / grep / 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0500" y="2921000"/>
            <a:ext cx="1587500" cy="685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요청·결과의 약속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find는 비교 실습용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0" y="2463800"/>
            <a:ext cx="15875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모델 + LangGraph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0" y="2882900"/>
            <a:ext cx="1587500" cy="812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다음 행동 선택</a:t>
            </a:r>
          </a:p>
          <a:p>
            <a:pPr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실행 상태·예산 기록</a:t>
            </a:r>
          </a:p>
          <a:p>
            <a:pPr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계속 / 종료 분기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1500" y="2705100"/>
            <a:ext cx="1587500" cy="952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근거와 질문 연결</a:t>
            </a:r>
          </a:p>
          <a:p>
            <a:pPr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형식·출처·상태 검사</a:t>
            </a:r>
          </a:p>
          <a:p>
            <a:pPr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최종 결과 표시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87600" y="2857500"/>
            <a:ext cx="177800" cy="0"/>
          </a:xfrm>
          <a:prstGeom prst="line">
            <a:avLst/>
          </a:prstGeom>
          <a:ln w="8890">
            <a:solidFill>
              <a:srgbClr val="666A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83100" y="2857500"/>
            <a:ext cx="177800" cy="0"/>
          </a:xfrm>
          <a:prstGeom prst="line">
            <a:avLst/>
          </a:prstGeom>
          <a:ln w="8890">
            <a:solidFill>
              <a:srgbClr val="666A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91300" y="2857500"/>
            <a:ext cx="152400" cy="0"/>
          </a:xfrm>
          <a:prstGeom prst="line">
            <a:avLst/>
          </a:prstGeom>
          <a:ln w="10795">
            <a:solidFill>
              <a:srgbClr val="19864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08000" y="4051300"/>
            <a:ext cx="8128000" cy="292100"/>
          </a:xfrm>
          <a:prstGeom prst="rect">
            <a:avLst/>
          </a:prstGeom>
          <a:solidFill>
            <a:srgbClr val="F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000" y="4089400"/>
            <a:ext cx="7874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범용 = 문서와 업무가 바뀌어도, 근거 확보·검증·종료 흐름을 재사용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8000" y="43878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ISCUSSION_OR_TAKEAWAY"/>
          <p:cNvSpPr txBox="1"/>
          <p:nvPr/>
        </p:nvSpPr>
        <p:spPr>
          <a:xfrm>
            <a:off x="508000" y="4457700"/>
            <a:ext cx="8128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검색 방식·권한·업무 기준까지 자동으로 같아지는 것은 아닙니다.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1000" y="37465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1000" y="96520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_TITLE"/>
          <p:cNvSpPr txBox="1"/>
          <p:nvPr/>
        </p:nvSpPr>
        <p:spPr>
          <a:xfrm>
            <a:off x="647700" y="527050"/>
            <a:ext cx="8013700" cy="342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같은 질문이 실제로 어떻게 처리될까요?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508000" y="1174750"/>
            <a:ext cx="8128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5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도구 호출·반환 결과·남은 요구사항을 함께 기록합니다.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44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574800"/>
            <a:ext cx="8128000" cy="330200"/>
          </a:xfrm>
          <a:prstGeom prst="rect">
            <a:avLst/>
          </a:prstGeom>
          <a:solidFill>
            <a:srgbClr val="F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625600"/>
            <a:ext cx="7848600" cy="241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3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질문 | 서비스 A의 외부 공유는 v2.0에서 v2.1로 어떻게 바뀌었나요?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070100"/>
            <a:ext cx="8128000" cy="3175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2300" y="2095500"/>
            <a:ext cx="34290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3800" y="2095500"/>
            <a:ext cx="224790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0300" y="2095500"/>
            <a:ext cx="226060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확보한 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9500" y="2095500"/>
            <a:ext cx="236220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남은 요구·다음 행동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8000" y="28384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2300" y="2425700"/>
            <a:ext cx="342900" cy="374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3800" y="2425700"/>
            <a:ext cx="2247900" cy="374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browse(서비스 A 문서)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0300" y="2425700"/>
            <a:ext cx="2260600" cy="374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v2.0·v2.1 문서 위치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9500" y="2425700"/>
            <a:ext cx="2362200" cy="374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각 버전의 지원 여부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8000" y="328930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2300" y="2876550"/>
            <a:ext cx="342900" cy="374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3800" y="2876550"/>
            <a:ext cx="2247900" cy="374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read(v2.1 문서)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0300" y="2876550"/>
            <a:ext cx="2260600" cy="374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E1: 외부 공유 미지원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9500" y="2876550"/>
            <a:ext cx="2362200" cy="374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v2.0의 지원 여부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000" y="3289300"/>
            <a:ext cx="8128000" cy="450850"/>
          </a:xfrm>
          <a:prstGeom prst="rect">
            <a:avLst/>
          </a:prstGeom>
          <a:solidFill>
            <a:srgbClr val="F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08000" y="37401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2300" y="3327400"/>
            <a:ext cx="342900" cy="374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3800" y="3327400"/>
            <a:ext cx="2247900" cy="374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read(v2.0 문서)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0300" y="3327400"/>
            <a:ext cx="2260600" cy="374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E2: 외부 공유 지원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9500" y="3327400"/>
            <a:ext cx="2362200" cy="374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두 사실 확보 → 비교 답변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8000" y="419100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22300" y="3778250"/>
            <a:ext cx="342900" cy="374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3800" y="3778250"/>
            <a:ext cx="2247900" cy="374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답변 생성 → 검증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0300" y="3778250"/>
            <a:ext cx="2260600" cy="374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E1·E2를 연결한 비교 답변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9500" y="3778250"/>
            <a:ext cx="2362200" cy="374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근거·형식 검사 통과 → 종료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8000" y="43878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DISCUSSION_OR_TAKEAWAY"/>
          <p:cNvSpPr txBox="1"/>
          <p:nvPr/>
        </p:nvSpPr>
        <p:spPr>
          <a:xfrm>
            <a:off x="508000" y="4457700"/>
            <a:ext cx="8128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문서 위치를 이미 알고 있다면 browse를 생략하고 바로 read할 수 있습니다.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1000" y="37465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1000" y="96520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_TITLE"/>
          <p:cNvSpPr txBox="1"/>
          <p:nvPr/>
        </p:nvSpPr>
        <p:spPr>
          <a:xfrm>
            <a:off x="647700" y="527050"/>
            <a:ext cx="8013700" cy="342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‘근거가 충분하다’는 것을 무엇으로 확인하나요?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508000" y="1174750"/>
            <a:ext cx="8128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5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문서 개수가 아니라, 질문에 필요한 사실이 확보됐는지 확인합니다.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841500"/>
            <a:ext cx="3962400" cy="18923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1993900"/>
            <a:ext cx="36576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5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v2.1 문서만 읽은 상태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0400" y="2362200"/>
            <a:ext cx="3657600" cy="0"/>
          </a:xfrm>
          <a:prstGeom prst="line">
            <a:avLst/>
          </a:prstGeom>
          <a:ln w="7620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0400" y="2527300"/>
            <a:ext cx="22479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v2.0의 지원 여부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921000"/>
            <a:ext cx="22479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v2.1의 지원 여부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3600" y="1841500"/>
            <a:ext cx="3962400" cy="18923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26000" y="1993900"/>
            <a:ext cx="36576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5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두 버전의 문서를 읽은 상태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26000" y="2362200"/>
            <a:ext cx="3657600" cy="0"/>
          </a:xfrm>
          <a:prstGeom prst="line">
            <a:avLst/>
          </a:prstGeom>
          <a:ln w="7620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26000" y="2527300"/>
            <a:ext cx="22479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v2.0의 지원 여부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0" y="2921000"/>
            <a:ext cx="22479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v2.1의 지원 여부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49600" y="2501900"/>
            <a:ext cx="1143000" cy="2794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13100" y="2514600"/>
            <a:ext cx="1016000" cy="241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50" b="1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미확인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49600" y="2895600"/>
            <a:ext cx="1143000" cy="279400"/>
          </a:xfrm>
          <a:prstGeom prst="rect">
            <a:avLst/>
          </a:prstGeom>
          <a:solidFill>
            <a:srgbClr val="F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13100" y="2908300"/>
            <a:ext cx="1016000" cy="241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5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확보: E1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501900"/>
            <a:ext cx="1143000" cy="279400"/>
          </a:xfrm>
          <a:prstGeom prst="rect">
            <a:avLst/>
          </a:prstGeom>
          <a:solidFill>
            <a:srgbClr val="F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78700" y="2514600"/>
            <a:ext cx="1016000" cy="241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5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확보: E2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895600"/>
            <a:ext cx="1143000" cy="279400"/>
          </a:xfrm>
          <a:prstGeom prst="rect">
            <a:avLst/>
          </a:prstGeom>
          <a:solidFill>
            <a:srgbClr val="F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78700" y="2908300"/>
            <a:ext cx="1016000" cy="241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5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확보: E1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400" y="3378200"/>
            <a:ext cx="3657600" cy="266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7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다음: v2.0 문서 추가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6000" y="3378200"/>
            <a:ext cx="3657600" cy="266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7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다음: 비교 답변 생성·검증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3873500"/>
            <a:ext cx="8128000" cy="3937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000" y="3962400"/>
            <a:ext cx="7874000" cy="241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6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실행 상태에 기록 | 원래 질문 · 확보한 근거 · 미확인 항목 · 호출 수 · 실행 상태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8000" y="43878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DISCUSSION_OR_TAKEAWAY"/>
          <p:cNvSpPr txBox="1"/>
          <p:nvPr/>
        </p:nvSpPr>
        <p:spPr>
          <a:xfrm>
            <a:off x="508000" y="4457700"/>
            <a:ext cx="8128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‘변경 이유’까지 묻는 질문이라면, 필요한 근거가 더 늘어납니다.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1000" y="37465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1000" y="96520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_TITLE"/>
          <p:cNvSpPr txBox="1"/>
          <p:nvPr/>
        </p:nvSpPr>
        <p:spPr>
          <a:xfrm>
            <a:off x="647700" y="513504"/>
            <a:ext cx="8013700" cy="342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1512"/>
                </a:solidFill>
                <a:latin typeface="Gothic A1 ExtraBold" pitchFamily="2" charset="-127"/>
                <a:ea typeface="Gothic A1 ExtraBold" pitchFamily="2" charset="-127"/>
                <a:cs typeface="Gothic A1 ExtraBold" pitchFamily="2" charset="-127"/>
              </a:rPr>
              <a:t>판단은 모델에 맡겨도, 제한은 코드로 강제합니다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508000" y="1140885"/>
            <a:ext cx="8128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5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무엇을 더 찾아야 할지는 모델이 제안하고, 무엇을 허용할지는 시스템이 제한합니다.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46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621369"/>
            <a:ext cx="3898900" cy="2286000"/>
          </a:xfrm>
          <a:prstGeom prst="rect">
            <a:avLst/>
          </a:prstGeom>
          <a:solidFill>
            <a:srgbClr val="FFFFFF"/>
          </a:solidFill>
          <a:ln w="7620">
            <a:solidFill>
              <a:srgbClr val="B6B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11700" y="1621369"/>
            <a:ext cx="3924300" cy="2286000"/>
          </a:xfrm>
          <a:prstGeom prst="rect">
            <a:avLst/>
          </a:prstGeom>
          <a:solidFill>
            <a:srgbClr val="F0F7F1"/>
          </a:solidFill>
          <a:ln w="7620">
            <a:solidFill>
              <a:srgbClr val="198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3100" y="1773769"/>
            <a:ext cx="35687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1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모델에 맡길 판단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800" y="1773769"/>
            <a:ext cx="35941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10" b="1">
                <a:solidFill>
                  <a:srgbClr val="19864C"/>
                </a:solidFill>
                <a:latin typeface="Gothic A1"/>
                <a:ea typeface="Gothic A1"/>
                <a:cs typeface="Gothic A1"/>
              </a:rPr>
              <a:t>코드·서버 정책으로 강제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2269069"/>
            <a:ext cx="35687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다음 검색어와 읽을 문서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0" y="2269069"/>
            <a:ext cx="35941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허용 문서·경로·도구와 접근 권한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2637369"/>
            <a:ext cx="35687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아직 확인되지 않은 항목 정리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6800" y="2637369"/>
            <a:ext cx="35941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도구 입력·출력 형식 검사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100" y="3005669"/>
            <a:ext cx="35687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근거의 관련성·충분성 판단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0" y="3005669"/>
            <a:ext cx="35941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호출 횟수·시간·읽기 분량 제한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100" y="3373969"/>
            <a:ext cx="35687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근거를 연결해 답변 초안 작성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6800" y="3373969"/>
            <a:ext cx="3594100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1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근거 ID·형식·상태 일관성 검사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8000" y="43878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DISCUSSION_OR_TAKEAWAY"/>
          <p:cNvSpPr txBox="1"/>
          <p:nvPr/>
        </p:nvSpPr>
        <p:spPr>
          <a:xfrm>
            <a:off x="508000" y="4457700"/>
            <a:ext cx="8128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예산이 소진되면, 모델이 재검색을 제안해도 정해진 종료 경로로 이동합니다.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1000" y="37465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1000" y="965200"/>
            <a:ext cx="8382000" cy="0"/>
          </a:xfrm>
          <a:prstGeom prst="line">
            <a:avLst/>
          </a:prstGeom>
          <a:ln w="8255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_TITLE"/>
          <p:cNvSpPr txBox="1"/>
          <p:nvPr/>
        </p:nvSpPr>
        <p:spPr>
          <a:xfrm>
            <a:off x="647700" y="527050"/>
            <a:ext cx="8013700" cy="342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답변이 틀렸다면 어디부터 확인할까요?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508000" y="1174750"/>
            <a:ext cx="8128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5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최종 답변만 보지 말고, 근거가 어느 단계까지 전달됐는지 확인합니다.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648700" y="4787900"/>
            <a:ext cx="2794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000" b="0">
                <a:solidFill>
                  <a:srgbClr val="666A66"/>
                </a:solidFill>
                <a:latin typeface="Gothic A1"/>
                <a:ea typeface="Gothic A1"/>
                <a:cs typeface="Gothic A1"/>
              </a:rPr>
              <a:t>47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803400"/>
            <a:ext cx="8128000" cy="3429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2300" y="1828800"/>
            <a:ext cx="5334000" cy="292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관찰한 현상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4900" y="1828800"/>
            <a:ext cx="2336800" cy="292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먼저 조사할 위치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8000" y="25717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2300" y="2184400"/>
            <a:ext cx="5334000" cy="3492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원문에는 답이 있지만 파싱 결과에 없다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4900" y="2184400"/>
            <a:ext cx="2336800" cy="3492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문서 처리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8000" y="299720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300" y="2609850"/>
            <a:ext cx="5334000" cy="3492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파싱 결과에는 답이 있지만 검색·읽기에서 빠졌다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4900" y="2609850"/>
            <a:ext cx="2336800" cy="3492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검색 조건·읽기 범위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2997200"/>
            <a:ext cx="8128000" cy="425450"/>
          </a:xfrm>
          <a:prstGeom prst="rect">
            <a:avLst/>
          </a:prstGeom>
          <a:solidFill>
            <a:srgbClr val="F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508000" y="34226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2300" y="3035300"/>
            <a:ext cx="5334000" cy="3492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읽은 근거가 실제 모델 입력에서는 누락됐다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4900" y="3035300"/>
            <a:ext cx="2336800" cy="3492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근거 선택·Context 구성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8000" y="384810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2300" y="3460750"/>
            <a:ext cx="5334000" cy="3492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모델 입력에 근거가 있는데 다른 내용을 답했다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4900" y="3460750"/>
            <a:ext cx="2336800" cy="3492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질문 해석·지시·근거 사용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8000" y="42735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2300" y="3886200"/>
            <a:ext cx="5334000" cy="3492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같은 검색을 반복하며 새로운 근거가 없다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4900" y="3886200"/>
            <a:ext cx="2336800" cy="3492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90" b="0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탐색 전략·진전·종료 정책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8000" y="4387850"/>
            <a:ext cx="8128000" cy="0"/>
          </a:xfrm>
          <a:prstGeom prst="line">
            <a:avLst/>
          </a:prstGeom>
          <a:ln w="6985">
            <a:solidFill>
              <a:srgbClr val="E0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ISCUSSION_OR_TAKEAWAY"/>
          <p:cNvSpPr txBox="1"/>
          <p:nvPr/>
        </p:nvSpPr>
        <p:spPr>
          <a:xfrm>
            <a:off x="508000" y="4457700"/>
            <a:ext cx="8128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180" b="1">
                <a:solidFill>
                  <a:srgbClr val="121512"/>
                </a:solidFill>
                <a:latin typeface="Gothic A1"/>
                <a:ea typeface="Gothic A1"/>
                <a:cs typeface="Gothic A1"/>
              </a:rPr>
              <a:t>오른쪽은 확정된 원인이 아니라, 로그와 원문으로 먼저 검증할 위치입니다.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othic A1">
      <a:majorFont>
        <a:latin typeface="Gothic A1"/>
        <a:ea typeface="Gothic A1"/>
        <a:cs typeface="Gothic A1"/>
        <a:font script="Jpan" typeface="Gothic A1"/>
        <a:font script="Hang" typeface="Gothic A1"/>
        <a:font script="Hans" typeface="Gothic A1"/>
        <a:font script="Hant" typeface="Gothic A1"/>
        <a:font script="Arab" typeface="Gothic A1"/>
        <a:font script="Hebr" typeface="Gothic A1"/>
        <a:font script="Thai" typeface="Gothic A1"/>
        <a:font script="Ethi" typeface="Gothic A1"/>
        <a:font script="Beng" typeface="Gothic A1"/>
        <a:font script="Gujr" typeface="Gothic A1"/>
        <a:font script="Khmr" typeface="Gothic A1"/>
        <a:font script="Knda" typeface="Gothic A1"/>
        <a:font script="Guru" typeface="Gothic A1"/>
        <a:font script="Cans" typeface="Gothic A1"/>
        <a:font script="Cher" typeface="Gothic A1"/>
        <a:font script="Yiii" typeface="Gothic A1"/>
        <a:font script="Tibt" typeface="Gothic A1"/>
        <a:font script="Thaa" typeface="Gothic A1"/>
        <a:font script="Deva" typeface="Gothic A1"/>
        <a:font script="Telu" typeface="Gothic A1"/>
        <a:font script="Taml" typeface="Gothic A1"/>
        <a:font script="Syrc" typeface="Gothic A1"/>
        <a:font script="Orya" typeface="Gothic A1"/>
        <a:font script="Mlym" typeface="Gothic A1"/>
        <a:font script="Laoo" typeface="Gothic A1"/>
        <a:font script="Sinh" typeface="Gothic A1"/>
        <a:font script="Mong" typeface="Gothic A1"/>
        <a:font script="Viet" typeface="Gothic A1"/>
        <a:font script="Uigh" typeface="Gothic A1"/>
        <a:font script="Geor" typeface="Gothic A1"/>
      </a:majorFont>
      <a:minorFont>
        <a:latin typeface="Gothic A1"/>
        <a:ea typeface="Gothic A1"/>
        <a:cs typeface="Gothic A1"/>
        <a:font script="Jpan" typeface="Gothic A1"/>
        <a:font script="Hang" typeface="Gothic A1"/>
        <a:font script="Hans" typeface="Gothic A1"/>
        <a:font script="Hant" typeface="Gothic A1"/>
        <a:font script="Arab" typeface="Gothic A1"/>
        <a:font script="Hebr" typeface="Gothic A1"/>
        <a:font script="Thai" typeface="Gothic A1"/>
        <a:font script="Ethi" typeface="Gothic A1"/>
        <a:font script="Beng" typeface="Gothic A1"/>
        <a:font script="Gujr" typeface="Gothic A1"/>
        <a:font script="Khmr" typeface="Gothic A1"/>
        <a:font script="Knda" typeface="Gothic A1"/>
        <a:font script="Guru" typeface="Gothic A1"/>
        <a:font script="Cans" typeface="Gothic A1"/>
        <a:font script="Cher" typeface="Gothic A1"/>
        <a:font script="Yiii" typeface="Gothic A1"/>
        <a:font script="Tibt" typeface="Gothic A1"/>
        <a:font script="Thaa" typeface="Gothic A1"/>
        <a:font script="Deva" typeface="Gothic A1"/>
        <a:font script="Telu" typeface="Gothic A1"/>
        <a:font script="Taml" typeface="Gothic A1"/>
        <a:font script="Syrc" typeface="Gothic A1"/>
        <a:font script="Orya" typeface="Gothic A1"/>
        <a:font script="Mlym" typeface="Gothic A1"/>
        <a:font script="Laoo" typeface="Gothic A1"/>
        <a:font script="Sinh" typeface="Gothic A1"/>
        <a:font script="Mong" typeface="Gothic A1"/>
        <a:font script="Viet" typeface="Gothic A1"/>
        <a:font script="Uigh" typeface="Gothic A1"/>
        <a:font script="Geor" typeface="Gothic A1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2075</Words>
  <Application>Microsoft Macintosh PowerPoint</Application>
  <PresentationFormat>화면 슬라이드 쇼(16:9)</PresentationFormat>
  <Paragraphs>482</Paragraphs>
  <Slides>48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2" baseType="lpstr">
      <vt:lpstr>Gothic A1</vt:lpstr>
      <vt:lpstr>Gothic A1 ExtraBold</vt:lpstr>
      <vt:lpstr>Noto Sans CJK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Day2 Production RAG | 초반부·논문 해설 정리본</dc:title>
  <dc:subject>48장 유지 / 자체 도식·논문 근거 보강</dc:subject>
  <dc:creator>Production RAG</dc:creator>
  <cp:keywords>Production RAG, Agentic RAG, 근거, 검색, 답변, 실습</cp:keywords>
  <dc:description>2026-09-06. Updated pages 4,5,7,9,10,11,12,20. Original editable elements preserved elsewhere.</dc:description>
  <cp:lastModifiedBy>현준 전</cp:lastModifiedBy>
  <cp:revision>43</cp:revision>
  <dcterms:created xsi:type="dcterms:W3CDTF">2013-01-27T09:14:16Z</dcterms:created>
  <dcterms:modified xsi:type="dcterms:W3CDTF">2026-09-07T07:56:41Z</dcterms:modified>
  <cp:category/>
</cp:coreProperties>
</file>